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68" r:id="rId15"/>
    <p:sldId id="279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69772" y="4417790"/>
            <a:ext cx="6328328" cy="369332"/>
            <a:chOff x="3920693" y="3753992"/>
            <a:chExt cx="6328328" cy="369332"/>
          </a:xfrm>
          <a:noFill/>
        </p:grpSpPr>
        <p:sp>
          <p:nvSpPr>
            <p:cNvPr id="3" name="TextBox 3"/>
            <p:cNvSpPr txBox="1"/>
            <p:nvPr/>
          </p:nvSpPr>
          <p:spPr>
            <a:xfrm>
              <a:off x="3920693" y="3753992"/>
              <a:ext cx="2393315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dirty="0">
                  <a:solidFill>
                    <a:srgbClr val="DF5C18"/>
                  </a:solidFill>
                  <a:latin typeface="思源黑体 Normal"/>
                </a:rPr>
                <a:t>Created By: Ayush Dash</a:t>
              </a:r>
              <a:endParaRPr lang="en-US" sz="1100" dirty="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809226" y="3753992"/>
              <a:ext cx="3439795" cy="3683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/>
            <a:p>
              <a:pPr marL="0" algn="l"/>
              <a:r>
                <a:rPr lang="en-US" sz="1800" b="0" i="0" u="none" baseline="0" dirty="0">
                  <a:solidFill>
                    <a:srgbClr val="DF5C18"/>
                  </a:solidFill>
                  <a:latin typeface="思源黑体 Normal"/>
                  <a:ea typeface="思源黑体 Normal"/>
                </a:rPr>
                <a:t>Date:</a:t>
              </a:r>
              <a:r>
                <a:rPr lang="en-US" dirty="0">
                  <a:solidFill>
                    <a:srgbClr val="DF5C18"/>
                  </a:solidFill>
                  <a:latin typeface="思源黑体 Normal"/>
                  <a:ea typeface="思源黑体 Normal"/>
                </a:rPr>
                <a:t>12-04-2026</a:t>
              </a:r>
              <a:endParaRPr lang="en-US" sz="1800" b="0" i="0" u="none" baseline="0" dirty="0">
                <a:solidFill>
                  <a:srgbClr val="DF5C18"/>
                </a:solidFill>
                <a:latin typeface="思源黑体 Normal"/>
                <a:ea typeface="思源黑体 Normal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3517900" y="4425291"/>
            <a:ext cx="354330" cy="3543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400260" y="4425291"/>
            <a:ext cx="354330" cy="3543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l"/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2145665" y="1134110"/>
            <a:ext cx="7901305" cy="1974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ctr" fontAlgn="auto">
              <a:lnSpc>
                <a:spcPct val="110000"/>
              </a:lnSpc>
            </a:pPr>
            <a:r>
              <a:rPr lang="en-US" sz="5400" b="1" i="0" u="none" spc="300" baseline="0">
                <a:ln w="3175"/>
                <a:solidFill>
                  <a:srgbClr val="DD5D30"/>
                </a:solidFill>
                <a:effectLst/>
                <a:latin typeface="思源黑体 Medium"/>
                <a:ea typeface="思源黑体 Medium"/>
              </a:rPr>
              <a:t>Dubai Real Estate Intelligence Dashboard</a:t>
            </a:r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endParaRPr lang="en-US" sz="1100" dirty="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5908675" y="5943600"/>
            <a:ext cx="374650" cy="322974"/>
          </a:xfrm>
          <a:prstGeom prst="triangle">
            <a:avLst/>
          </a:prstGeom>
          <a:solidFill>
            <a:srgbClr val="DD5D30"/>
          </a:solidFill>
          <a:ln>
            <a:noFill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4044950" y="800100"/>
            <a:ext cx="41021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dist">
              <a:defRPr/>
            </a:pPr>
            <a:r>
              <a:rPr lang="en-US" sz="252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334982" y="1796950"/>
            <a:ext cx="3295819" cy="99093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Project Overview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9997" y="1777646"/>
            <a:ext cx="1623352" cy="84100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4300" b="1" i="0" u="none" spc="100" baseline="0">
                <a:solidFill>
                  <a:srgbClr val="DD5D30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372515" y="2485456"/>
            <a:ext cx="638316" cy="264463"/>
          </a:xfrm>
          <a:prstGeom prst="rect">
            <a:avLst/>
          </a:prstGeom>
          <a:noFill/>
          <a:ln>
            <a:solidFill>
              <a:srgbClr val="DD5D30"/>
            </a:solidFill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11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7819221" y="1796950"/>
            <a:ext cx="3295819" cy="99093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Data Preparation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364235" y="1777646"/>
            <a:ext cx="1623352" cy="84100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4300" b="1" i="0" u="none" spc="100" baseline="0">
                <a:solidFill>
                  <a:srgbClr val="DD5D30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856599" y="2485456"/>
            <a:ext cx="638316" cy="264463"/>
          </a:xfrm>
          <a:prstGeom prst="rect">
            <a:avLst/>
          </a:prstGeom>
          <a:noFill/>
          <a:ln>
            <a:solidFill>
              <a:srgbClr val="DD5D30"/>
            </a:solidFill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11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334982" y="3091598"/>
            <a:ext cx="3295819" cy="99093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Dashboard Architecture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79997" y="3072294"/>
            <a:ext cx="1623352" cy="84100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4300" b="1" i="0" u="none" spc="100" baseline="0">
                <a:solidFill>
                  <a:srgbClr val="DD5D30"/>
                </a:solidFill>
                <a:latin typeface="思源黑体 Normal"/>
                <a:ea typeface="思源黑体 Normal"/>
              </a:rPr>
              <a:t>03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72361" y="3780104"/>
            <a:ext cx="638316" cy="264463"/>
          </a:xfrm>
          <a:prstGeom prst="rect">
            <a:avLst/>
          </a:prstGeom>
          <a:noFill/>
          <a:ln>
            <a:solidFill>
              <a:srgbClr val="DD5D30"/>
            </a:solidFill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11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819221" y="3091598"/>
            <a:ext cx="3295819" cy="99093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Advanced Analytics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364235" y="3072294"/>
            <a:ext cx="1623352" cy="84100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4300" b="1" i="0" u="none" spc="100" baseline="0">
                <a:solidFill>
                  <a:srgbClr val="DD5D30"/>
                </a:solidFill>
                <a:latin typeface="思源黑体 Normal"/>
                <a:ea typeface="思源黑体 Normal"/>
              </a:rPr>
              <a:t>04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856599" y="3780104"/>
            <a:ext cx="638316" cy="264463"/>
          </a:xfrm>
          <a:prstGeom prst="rect">
            <a:avLst/>
          </a:prstGeom>
          <a:noFill/>
          <a:ln>
            <a:solidFill>
              <a:srgbClr val="DD5D30"/>
            </a:solidFill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11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2334982" y="4386246"/>
            <a:ext cx="3295819" cy="99093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Strategic Insights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9997" y="4366942"/>
            <a:ext cx="1623352" cy="84100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4300" b="1" i="0" u="none" spc="100" baseline="0">
                <a:solidFill>
                  <a:srgbClr val="DD5D30"/>
                </a:solidFill>
                <a:latin typeface="思源黑体 Normal"/>
                <a:ea typeface="思源黑体 Normal"/>
              </a:rPr>
              <a:t>05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372361" y="5074752"/>
            <a:ext cx="638316" cy="264463"/>
          </a:xfrm>
          <a:prstGeom prst="rect">
            <a:avLst/>
          </a:prstGeom>
          <a:noFill/>
          <a:ln>
            <a:solidFill>
              <a:srgbClr val="DD5D30"/>
            </a:solidFill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11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819221" y="4386246"/>
            <a:ext cx="3295819" cy="99093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Conclusion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364235" y="4366942"/>
            <a:ext cx="1623352" cy="84100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4300" b="1" i="0" u="none" spc="100" baseline="0">
                <a:solidFill>
                  <a:srgbClr val="DD5D30"/>
                </a:solidFill>
                <a:latin typeface="思源黑体 Normal"/>
                <a:ea typeface="思源黑体 Normal"/>
              </a:rPr>
              <a:t>06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856599" y="5074752"/>
            <a:ext cx="638316" cy="264463"/>
          </a:xfrm>
          <a:prstGeom prst="rect">
            <a:avLst/>
          </a:prstGeom>
          <a:noFill/>
          <a:ln>
            <a:solidFill>
              <a:srgbClr val="DD5D30"/>
            </a:solidFill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1100" b="0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4963" y="2132965"/>
            <a:ext cx="390271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DD5D30"/>
                </a:solidFill>
                <a:effectLst/>
                <a:latin typeface="思源黑体 Medium"/>
                <a:ea typeface="思源黑体 Medium"/>
              </a:rPr>
              <a:t>PART   01     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353945" y="3009900"/>
            <a:ext cx="7484745" cy="22313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DD5D30"/>
                </a:solidFill>
                <a:latin typeface="思源黑体 Medium"/>
                <a:ea typeface="思源黑体 Medium"/>
              </a:rPr>
              <a:t>Project Overview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588930">
            <a:off x="6540336" y="1806132"/>
            <a:ext cx="4409684" cy="4328265"/>
          </a:xfrm>
          <a:custGeom>
            <a:avLst/>
            <a:gdLst/>
            <a:ahLst/>
            <a:cxnLst/>
            <a:rect l="l" t="t" r="r" b="b"/>
            <a:pathLst>
              <a:path w="2879096" h="2825937">
                <a:moveTo>
                  <a:pt x="155801" y="656522"/>
                </a:moveTo>
                <a:cubicBezTo>
                  <a:pt x="280483" y="472785"/>
                  <a:pt x="506988" y="388965"/>
                  <a:pt x="723967" y="435637"/>
                </a:cubicBezTo>
                <a:cubicBezTo>
                  <a:pt x="907228" y="475071"/>
                  <a:pt x="1281656" y="484786"/>
                  <a:pt x="1725140" y="102453"/>
                </a:cubicBezTo>
                <a:cubicBezTo>
                  <a:pt x="1725140" y="102453"/>
                  <a:pt x="2146336" y="-241209"/>
                  <a:pt x="2574960" y="330291"/>
                </a:cubicBezTo>
                <a:cubicBezTo>
                  <a:pt x="3003585" y="901791"/>
                  <a:pt x="2879760" y="1720941"/>
                  <a:pt x="2794035" y="1930491"/>
                </a:cubicBezTo>
                <a:cubicBezTo>
                  <a:pt x="2708310" y="2140041"/>
                  <a:pt x="2460660" y="2835366"/>
                  <a:pt x="1851061" y="2825841"/>
                </a:cubicBezTo>
                <a:cubicBezTo>
                  <a:pt x="1241461" y="2816316"/>
                  <a:pt x="1451011" y="2175093"/>
                  <a:pt x="603286" y="1933729"/>
                </a:cubicBezTo>
                <a:cubicBezTo>
                  <a:pt x="-244440" y="1692366"/>
                  <a:pt x="22260" y="920841"/>
                  <a:pt x="107985" y="739866"/>
                </a:cubicBezTo>
                <a:cubicBezTo>
                  <a:pt x="121606" y="711291"/>
                  <a:pt x="137608" y="683288"/>
                  <a:pt x="155801" y="656522"/>
                </a:cubicBezTo>
                <a:close/>
              </a:path>
            </a:pathLst>
          </a:custGeom>
          <a:noFill/>
          <a:ln w="9525" cap="flat">
            <a:solidFill>
              <a:schemeClr val="accent1"/>
            </a:solidFill>
            <a:prstDash val="solid"/>
            <a:miter lim="800000"/>
          </a:ln>
          <a:effectLst/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pic>
        <p:nvPicPr>
          <p:cNvPr id="3" name="image69.jpeg"/>
          <p:cNvPicPr>
            <a:picLocks noChangeAspect="1"/>
          </p:cNvPicPr>
          <p:nvPr/>
        </p:nvPicPr>
        <p:blipFill rotWithShape="1">
          <a:blip r:embed="rId3"/>
          <a:srcRect l="14093" r="14093"/>
          <a:stretch>
            <a:fillRect/>
          </a:stretch>
        </p:blipFill>
        <p:spPr>
          <a:xfrm rot="21445174">
            <a:off x="6595864" y="1773479"/>
            <a:ext cx="4515311" cy="4189463"/>
          </a:xfrm>
          <a:custGeom>
            <a:avLst/>
            <a:gdLst/>
            <a:ahLst/>
            <a:cxnLst/>
            <a:rect l="0" t="0" r="0" b="0"/>
            <a:pathLst>
              <a:path w="4515311" h="4189463">
                <a:moveTo>
                  <a:pt x="1139864" y="1681"/>
                </a:moveTo>
                <a:cubicBezTo>
                  <a:pt x="1666331" y="38907"/>
                  <a:pt x="1958762" y="680183"/>
                  <a:pt x="3039740" y="494141"/>
                </a:cubicBezTo>
                <a:cubicBezTo>
                  <a:pt x="4370176" y="265163"/>
                  <a:pt x="4513638" y="1507199"/>
                  <a:pt x="4515307" y="1813904"/>
                </a:cubicBezTo>
                <a:cubicBezTo>
                  <a:pt x="4515453" y="1862388"/>
                  <a:pt x="4511932" y="1911661"/>
                  <a:pt x="4504565" y="1960680"/>
                </a:cubicBezTo>
                <a:cubicBezTo>
                  <a:pt x="4454282" y="2297034"/>
                  <a:pt x="4197159" y="2562971"/>
                  <a:pt x="3866646" y="2642434"/>
                </a:cubicBezTo>
                <a:cubicBezTo>
                  <a:pt x="3587485" y="2709528"/>
                  <a:pt x="3064108" y="2944432"/>
                  <a:pt x="2705395" y="3766393"/>
                </a:cubicBezTo>
                <a:cubicBezTo>
                  <a:pt x="2705395" y="3766393"/>
                  <a:pt x="2351807" y="4520184"/>
                  <a:pt x="1381038" y="4015432"/>
                </a:cubicBezTo>
                <a:cubicBezTo>
                  <a:pt x="410268" y="3510681"/>
                  <a:pt x="37969" y="2297647"/>
                  <a:pt x="17349" y="1951491"/>
                </a:cubicBezTo>
                <a:cubicBezTo>
                  <a:pt x="-3270" y="1605335"/>
                  <a:pt x="-122497" y="481134"/>
                  <a:pt x="725429" y="90005"/>
                </a:cubicBezTo>
                <a:cubicBezTo>
                  <a:pt x="884415" y="16668"/>
                  <a:pt x="1018371" y="-6910"/>
                  <a:pt x="1139864" y="1681"/>
                </a:cubicBezTo>
                <a:close/>
              </a:path>
            </a:pathLst>
          </a:custGeom>
          <a:ln w="12700">
            <a:solidFill>
              <a:srgbClr val="DD5D30"/>
            </a:solidFill>
          </a:ln>
        </p:spPr>
      </p:pic>
      <p:sp>
        <p:nvSpPr>
          <p:cNvPr id="4" name="AutoShape 4"/>
          <p:cNvSpPr/>
          <p:nvPr/>
        </p:nvSpPr>
        <p:spPr>
          <a:xfrm>
            <a:off x="8596676" y="1599311"/>
            <a:ext cx="256843" cy="256843"/>
          </a:xfrm>
          <a:prstGeom prst="ellipse">
            <a:avLst/>
          </a:prstGeom>
          <a:solidFill>
            <a:srgbClr val="DD5D3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280792" y="5491406"/>
            <a:ext cx="159747" cy="1597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825500" y="2161330"/>
            <a:ext cx="5425440" cy="3413760"/>
            <a:chOff x="1300" y="3002"/>
            <a:chExt cx="8544" cy="5376"/>
          </a:xfrm>
        </p:grpSpPr>
        <p:sp>
          <p:nvSpPr>
            <p:cNvPr id="7" name="TextBox 7"/>
            <p:cNvSpPr txBox="1"/>
            <p:nvPr/>
          </p:nvSpPr>
          <p:spPr>
            <a:xfrm>
              <a:off x="1300" y="3852"/>
              <a:ext cx="8544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Analyze Dubai housing data to identify price trends and property distribution. Build an interactive Power BI dashboard to provide actionable insights for investors, agents, and policymakers.</a:t>
              </a:r>
              <a:endParaRPr lang="en-US" sz="11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0" y="3002"/>
              <a:ext cx="854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D5D30"/>
                  </a:solidFill>
                  <a:latin typeface="思源黑体 Normal"/>
                  <a:ea typeface="思源黑体 Normal"/>
                </a:rPr>
                <a:t>Core Objectives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Project Objective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2951058"/>
          </a:xfrm>
          <a:custGeom>
            <a:avLst/>
            <a:gdLst/>
            <a:ahLst/>
            <a:cxnLst/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rgbClr val="FAE7E0"/>
          </a:solidFill>
          <a:ln>
            <a:noFill/>
            <a:prstDash val="solid"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100445" y="1935480"/>
            <a:ext cx="5368290" cy="4079875"/>
          </a:xfrm>
          <a:prstGeom prst="rect">
            <a:avLst/>
          </a:prstGeom>
          <a:solidFill>
            <a:srgbClr val="DD5D30"/>
          </a:solidFill>
          <a:ln>
            <a:noFill/>
            <a:prstDash val="solid"/>
          </a:ln>
          <a:effectLst>
            <a:outerShdw blurRad="177800" dist="88900" dir="12000000" algn="t" rotWithShape="0">
              <a:schemeClr val="accent1">
                <a:alpha val="8000"/>
                <a:lumMod val="75000"/>
              </a:schemeClr>
            </a:outerShdw>
          </a:effectLst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4" name="image70.jpeg"/>
          <p:cNvPicPr>
            <a:picLocks noChangeAspect="1"/>
          </p:cNvPicPr>
          <p:nvPr/>
        </p:nvPicPr>
        <p:blipFill>
          <a:blip r:embed="rId3"/>
          <a:srcRect l="4818" r="4818"/>
          <a:stretch>
            <a:fillRect/>
          </a:stretch>
        </p:blipFill>
        <p:spPr>
          <a:xfrm>
            <a:off x="6320155" y="2153285"/>
            <a:ext cx="4929505" cy="364426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822325" y="2383473"/>
            <a:ext cx="5039995" cy="3413760"/>
            <a:chOff x="1805" y="3432"/>
            <a:chExt cx="7937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805" y="4282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dataset "Housing_price_dataset.csv" includes essential columns: SquareFeet, Bedrooms, Bathrooms, Neighborhood, YearBuilt, and Price. This data forms the foundation for the dashboard's analytical capabilities.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5" y="3432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D5D30"/>
                  </a:solidFill>
                  <a:latin typeface="思源黑体 Normal"/>
                  <a:ea typeface="思源黑体 Normal"/>
                </a:rPr>
                <a:t>Data Structure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Dataset Overview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4963" y="2132965"/>
            <a:ext cx="390271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DD5D30"/>
                </a:solidFill>
                <a:effectLst/>
                <a:latin typeface="思源黑体 Medium"/>
                <a:ea typeface="思源黑体 Medium"/>
              </a:rPr>
              <a:t>PART   02     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353945" y="3009900"/>
            <a:ext cx="7484745" cy="22313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DD5D30"/>
                </a:solidFill>
                <a:latin typeface="思源黑体 Medium"/>
                <a:ea typeface="思源黑体 Medium"/>
              </a:rPr>
              <a:t>Data Preparation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08140" y="2020253"/>
            <a:ext cx="4356100" cy="3577590"/>
            <a:chOff x="10564" y="3371"/>
            <a:chExt cx="6860" cy="5634"/>
          </a:xfrm>
        </p:grpSpPr>
        <p:pic>
          <p:nvPicPr>
            <p:cNvPr id="3" name="image79.png"/>
            <p:cNvPicPr>
              <a:picLocks noChangeAspect="1"/>
            </p:cNvPicPr>
            <p:nvPr/>
          </p:nvPicPr>
          <p:blipFill rotWithShape="1">
            <a:blip r:embed="rId3"/>
            <a:srcRect l="-1" r="-728"/>
            <a:stretch>
              <a:fillRect/>
            </a:stretch>
          </p:blipFill>
          <p:spPr>
            <a:xfrm>
              <a:off x="10564" y="3371"/>
              <a:ext cx="6860" cy="5634"/>
            </a:xfrm>
            <a:prstGeom prst="rect">
              <a:avLst/>
            </a:prstGeom>
            <a:ln cap="flat" cmpd="sng">
              <a:noFill/>
              <a:prstDash val="solid"/>
            </a:ln>
          </p:spPr>
        </p:pic>
        <p:pic>
          <p:nvPicPr>
            <p:cNvPr id="4" name="image70.jpeg"/>
            <p:cNvPicPr>
              <a:picLocks noChangeAspect="1"/>
            </p:cNvPicPr>
            <p:nvPr/>
          </p:nvPicPr>
          <p:blipFill rotWithShape="1">
            <a:blip r:embed="rId4"/>
            <a:srcRect l="-8" t="8205" r="8" b="8205"/>
            <a:stretch>
              <a:fillRect/>
            </a:stretch>
          </p:blipFill>
          <p:spPr>
            <a:xfrm>
              <a:off x="10814" y="3594"/>
              <a:ext cx="6307" cy="3523"/>
            </a:xfrm>
            <a:prstGeom prst="rect">
              <a:avLst/>
            </a:prstGeom>
            <a:ln w="9525" cap="flat" cmpd="sng">
              <a:solidFill>
                <a:schemeClr val="dk1">
                  <a:alpha val="50000"/>
                  <a:lumMod val="40000"/>
                  <a:lumOff val="60000"/>
                </a:schemeClr>
              </a:solidFill>
              <a:prstDash val="solid"/>
            </a:ln>
          </p:spPr>
        </p:pic>
      </p:grpSp>
      <p:grpSp>
        <p:nvGrpSpPr>
          <p:cNvPr id="5" name="Group 5"/>
          <p:cNvGrpSpPr/>
          <p:nvPr/>
        </p:nvGrpSpPr>
        <p:grpSpPr>
          <a:xfrm>
            <a:off x="1146175" y="2102168"/>
            <a:ext cx="5039360" cy="3413760"/>
            <a:chOff x="1805" y="3251"/>
            <a:chExt cx="7936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Created calculated columns to enhance analysis: PricePerSqft, PropertyAge, ListingCategory, PropertyType, Developer, FurnishingStatus, and Location. These columns allow for deeper segmentation and trend analysis.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D5D30"/>
                  </a:solidFill>
                  <a:latin typeface="思源黑体 Normal"/>
                  <a:ea typeface="思源黑体 Normal"/>
                </a:rPr>
                <a:t>Calculated Columns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Data Transformation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2285287" y="2970666"/>
            <a:ext cx="3409950" cy="2887345"/>
          </a:xfrm>
          <a:custGeom>
            <a:avLst/>
            <a:gdLst/>
            <a:ahLst/>
            <a:cxnLst/>
            <a:rect l="l" t="t" r="r" b="b"/>
            <a:pathLst>
              <a:path w="5370" h="4547">
                <a:moveTo>
                  <a:pt x="579" y="0"/>
                </a:moveTo>
                <a:lnTo>
                  <a:pt x="1030" y="362"/>
                </a:lnTo>
                <a:lnTo>
                  <a:pt x="5026" y="362"/>
                </a:lnTo>
                <a:cubicBezTo>
                  <a:pt x="5185" y="362"/>
                  <a:pt x="5317" y="471"/>
                  <a:pt x="5354" y="618"/>
                </a:cubicBezTo>
                <a:lnTo>
                  <a:pt x="5355" y="624"/>
                </a:lnTo>
                <a:lnTo>
                  <a:pt x="5359" y="638"/>
                </a:lnTo>
                <a:cubicBezTo>
                  <a:pt x="5366" y="666"/>
                  <a:pt x="5370" y="695"/>
                  <a:pt x="5370" y="726"/>
                </a:cubicBezTo>
                <a:lnTo>
                  <a:pt x="5370" y="4198"/>
                </a:lnTo>
                <a:cubicBezTo>
                  <a:pt x="5370" y="4391"/>
                  <a:pt x="5214" y="4547"/>
                  <a:pt x="5021" y="4547"/>
                </a:cubicBezTo>
                <a:lnTo>
                  <a:pt x="349" y="4547"/>
                </a:lnTo>
                <a:cubicBezTo>
                  <a:pt x="258" y="4547"/>
                  <a:pt x="176" y="4513"/>
                  <a:pt x="114" y="4456"/>
                </a:cubicBezTo>
                <a:lnTo>
                  <a:pt x="114" y="4456"/>
                </a:lnTo>
                <a:lnTo>
                  <a:pt x="111" y="4453"/>
                </a:lnTo>
                <a:cubicBezTo>
                  <a:pt x="43" y="4392"/>
                  <a:pt x="0" y="4302"/>
                  <a:pt x="0" y="4203"/>
                </a:cubicBezTo>
                <a:lnTo>
                  <a:pt x="0" y="4198"/>
                </a:lnTo>
                <a:lnTo>
                  <a:pt x="0" y="726"/>
                </a:lnTo>
                <a:lnTo>
                  <a:pt x="0" y="700"/>
                </a:lnTo>
                <a:cubicBezTo>
                  <a:pt x="0" y="513"/>
                  <a:pt x="151" y="362"/>
                  <a:pt x="338" y="362"/>
                </a:cubicBezTo>
                <a:lnTo>
                  <a:pt x="580" y="362"/>
                </a:lnTo>
                <a:lnTo>
                  <a:pt x="579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  <a:lumMod val="60000"/>
                  <a:lumOff val="40000"/>
                </a:schemeClr>
              </a:gs>
              <a:gs pos="80000">
                <a:schemeClr val="accent1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789862" y="1826396"/>
            <a:ext cx="4646295" cy="3843064"/>
          </a:xfrm>
          <a:custGeom>
            <a:avLst/>
            <a:gdLst/>
            <a:ahLst/>
            <a:cxnLst/>
            <a:rect l="l" t="t" r="r" b="b"/>
            <a:pathLst>
              <a:path w="7317" h="6052">
                <a:moveTo>
                  <a:pt x="489" y="0"/>
                </a:moveTo>
                <a:lnTo>
                  <a:pt x="6828" y="0"/>
                </a:lnTo>
                <a:cubicBezTo>
                  <a:pt x="7098" y="0"/>
                  <a:pt x="7317" y="219"/>
                  <a:pt x="7317" y="489"/>
                </a:cubicBezTo>
                <a:lnTo>
                  <a:pt x="7317" y="5134"/>
                </a:lnTo>
                <a:cubicBezTo>
                  <a:pt x="7317" y="5404"/>
                  <a:pt x="7098" y="5623"/>
                  <a:pt x="6828" y="5623"/>
                </a:cubicBezTo>
                <a:lnTo>
                  <a:pt x="1234" y="5623"/>
                </a:lnTo>
                <a:lnTo>
                  <a:pt x="699" y="6052"/>
                </a:lnTo>
                <a:lnTo>
                  <a:pt x="700" y="5623"/>
                </a:lnTo>
                <a:lnTo>
                  <a:pt x="489" y="5623"/>
                </a:lnTo>
                <a:cubicBezTo>
                  <a:pt x="219" y="5623"/>
                  <a:pt x="0" y="5404"/>
                  <a:pt x="0" y="5134"/>
                </a:cubicBezTo>
                <a:lnTo>
                  <a:pt x="0" y="489"/>
                </a:lnTo>
                <a:cubicBezTo>
                  <a:pt x="0" y="219"/>
                  <a:pt x="219" y="0"/>
                  <a:pt x="489" y="0"/>
                </a:cubicBezTo>
                <a:close/>
              </a:path>
            </a:pathLst>
          </a:custGeom>
          <a:gradFill>
            <a:gsLst>
              <a:gs pos="20000">
                <a:srgbClr val="FAE7E0"/>
              </a:gs>
              <a:gs pos="64999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pic>
        <p:nvPicPr>
          <p:cNvPr id="4" name="image75.jpeg"/>
          <p:cNvPicPr>
            <a:picLocks noChangeAspect="1"/>
          </p:cNvPicPr>
          <p:nvPr/>
        </p:nvPicPr>
        <p:blipFill rotWithShape="1">
          <a:blip r:embed="rId3"/>
          <a:srcRect l="3560" r="3604"/>
          <a:stretch>
            <a:fillRect/>
          </a:stretch>
        </p:blipFill>
        <p:spPr>
          <a:xfrm>
            <a:off x="934959" y="1940560"/>
            <a:ext cx="4356100" cy="3274060"/>
          </a:xfrm>
          <a:prstGeom prst="roundRect">
            <a:avLst>
              <a:gd name="adj" fmla="val 6291"/>
            </a:avLst>
          </a:pr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5" name="TextBox 5"/>
          <p:cNvSpPr txBox="1"/>
          <p:nvPr/>
        </p:nvSpPr>
        <p:spPr>
          <a:xfrm>
            <a:off x="6185535" y="2480310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Defined essential measures for the dashboard: Average Price, Avg Price per Sqft, Avg Size, Max Price, Total Listings, and Oldest Property. These metrics drive the KPI cards and visualizations.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6185535" y="1940560"/>
            <a:ext cx="503999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Key Metrics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Measures Created</a:t>
            </a:r>
            <a:endParaRPr lang="en-US" sz="11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4963" y="2132965"/>
            <a:ext cx="390271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DD5D30"/>
                </a:solidFill>
                <a:effectLst/>
                <a:latin typeface="思源黑体 Medium"/>
                <a:ea typeface="思源黑体 Medium"/>
              </a:rPr>
              <a:t>PART   03     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353945" y="3009900"/>
            <a:ext cx="7484745" cy="22313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DD5D30"/>
                </a:solidFill>
                <a:latin typeface="思源黑体 Medium"/>
                <a:ea typeface="思源黑体 Medium"/>
              </a:rPr>
              <a:t>Dashboard Architecture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63130" y="13335"/>
            <a:ext cx="4904740" cy="4784090"/>
          </a:xfrm>
          <a:custGeom>
            <a:avLst/>
            <a:gdLst/>
            <a:ahLst/>
            <a:cxnLst/>
            <a:rect l="l" t="t" r="r" b="b"/>
            <a:pathLst>
              <a:path w="7282" h="7266">
                <a:moveTo>
                  <a:pt x="2683" y="0"/>
                </a:moveTo>
                <a:lnTo>
                  <a:pt x="4825" y="0"/>
                </a:lnTo>
                <a:lnTo>
                  <a:pt x="4884" y="16"/>
                </a:lnTo>
                <a:cubicBezTo>
                  <a:pt x="5044" y="63"/>
                  <a:pt x="5198" y="119"/>
                  <a:pt x="5344" y="186"/>
                </a:cubicBezTo>
                <a:cubicBezTo>
                  <a:pt x="6210" y="581"/>
                  <a:pt x="6877" y="1326"/>
                  <a:pt x="7271" y="2109"/>
                </a:cubicBezTo>
                <a:lnTo>
                  <a:pt x="7282" y="2130"/>
                </a:lnTo>
                <a:lnTo>
                  <a:pt x="7282" y="5206"/>
                </a:lnTo>
                <a:lnTo>
                  <a:pt x="7278" y="5216"/>
                </a:lnTo>
                <a:cubicBezTo>
                  <a:pt x="7067" y="5689"/>
                  <a:pt x="6810" y="6030"/>
                  <a:pt x="6556" y="6282"/>
                </a:cubicBezTo>
                <a:cubicBezTo>
                  <a:pt x="6641" y="6311"/>
                  <a:pt x="6719" y="6358"/>
                  <a:pt x="6785" y="6419"/>
                </a:cubicBezTo>
                <a:cubicBezTo>
                  <a:pt x="6981" y="6607"/>
                  <a:pt x="6959" y="6891"/>
                  <a:pt x="6490" y="7105"/>
                </a:cubicBezTo>
                <a:cubicBezTo>
                  <a:pt x="6065" y="7297"/>
                  <a:pt x="5625" y="7201"/>
                  <a:pt x="5433" y="7003"/>
                </a:cubicBezTo>
                <a:lnTo>
                  <a:pt x="5433" y="7004"/>
                </a:lnTo>
                <a:cubicBezTo>
                  <a:pt x="4014" y="7559"/>
                  <a:pt x="1945" y="7223"/>
                  <a:pt x="1006" y="6087"/>
                </a:cubicBezTo>
                <a:cubicBezTo>
                  <a:pt x="-531" y="4229"/>
                  <a:pt x="-260" y="2047"/>
                  <a:pt x="1502" y="590"/>
                </a:cubicBezTo>
                <a:cubicBezTo>
                  <a:pt x="1828" y="320"/>
                  <a:pt x="2228" y="126"/>
                  <a:pt x="2659" y="6"/>
                </a:cubicBezTo>
                <a:lnTo>
                  <a:pt x="2683" y="0"/>
                </a:lnTo>
                <a:close/>
              </a:path>
            </a:pathLst>
          </a:custGeom>
          <a:noFill/>
          <a:ln w="22225">
            <a:solidFill>
              <a:srgbClr val="4A4A4A"/>
            </a:solidFill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7306310" y="89535"/>
            <a:ext cx="4832350" cy="4712970"/>
          </a:xfrm>
          <a:custGeom>
            <a:avLst/>
            <a:gdLst/>
            <a:ahLst/>
            <a:cxnLst/>
            <a:rect l="l" t="t" r="r" b="b"/>
            <a:pathLst>
              <a:path w="7282" h="7266">
                <a:moveTo>
                  <a:pt x="2683" y="0"/>
                </a:moveTo>
                <a:lnTo>
                  <a:pt x="4825" y="0"/>
                </a:lnTo>
                <a:lnTo>
                  <a:pt x="4884" y="16"/>
                </a:lnTo>
                <a:cubicBezTo>
                  <a:pt x="5044" y="63"/>
                  <a:pt x="5198" y="119"/>
                  <a:pt x="5344" y="186"/>
                </a:cubicBezTo>
                <a:cubicBezTo>
                  <a:pt x="6210" y="581"/>
                  <a:pt x="6877" y="1326"/>
                  <a:pt x="7271" y="2109"/>
                </a:cubicBezTo>
                <a:lnTo>
                  <a:pt x="7282" y="2130"/>
                </a:lnTo>
                <a:lnTo>
                  <a:pt x="7282" y="5206"/>
                </a:lnTo>
                <a:lnTo>
                  <a:pt x="7278" y="5216"/>
                </a:lnTo>
                <a:cubicBezTo>
                  <a:pt x="7067" y="5689"/>
                  <a:pt x="6810" y="6030"/>
                  <a:pt x="6556" y="6282"/>
                </a:cubicBezTo>
                <a:cubicBezTo>
                  <a:pt x="6641" y="6311"/>
                  <a:pt x="6719" y="6358"/>
                  <a:pt x="6785" y="6419"/>
                </a:cubicBezTo>
                <a:cubicBezTo>
                  <a:pt x="6981" y="6607"/>
                  <a:pt x="6959" y="6891"/>
                  <a:pt x="6490" y="7105"/>
                </a:cubicBezTo>
                <a:cubicBezTo>
                  <a:pt x="6065" y="7297"/>
                  <a:pt x="5625" y="7201"/>
                  <a:pt x="5433" y="7003"/>
                </a:cubicBezTo>
                <a:lnTo>
                  <a:pt x="5433" y="7004"/>
                </a:lnTo>
                <a:cubicBezTo>
                  <a:pt x="4014" y="7559"/>
                  <a:pt x="1945" y="7223"/>
                  <a:pt x="1006" y="6087"/>
                </a:cubicBezTo>
                <a:cubicBezTo>
                  <a:pt x="-531" y="4229"/>
                  <a:pt x="-260" y="2047"/>
                  <a:pt x="1502" y="590"/>
                </a:cubicBezTo>
                <a:cubicBezTo>
                  <a:pt x="1828" y="320"/>
                  <a:pt x="2228" y="126"/>
                  <a:pt x="2659" y="6"/>
                </a:cubicBezTo>
                <a:lnTo>
                  <a:pt x="2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pic>
        <p:nvPicPr>
          <p:cNvPr id="4" name="image8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620" y="13335"/>
            <a:ext cx="4832350" cy="4822190"/>
          </a:xfrm>
          <a:custGeom>
            <a:avLst/>
            <a:gdLst/>
            <a:ahLst/>
            <a:cxnLst/>
            <a:rect l="0" t="0" r="0" b="0"/>
            <a:pathLst>
              <a:path w="6968" h="6953">
                <a:moveTo>
                  <a:pt x="2567" y="0"/>
                </a:moveTo>
                <a:lnTo>
                  <a:pt x="4617" y="0"/>
                </a:lnTo>
                <a:lnTo>
                  <a:pt x="4673" y="15"/>
                </a:lnTo>
                <a:cubicBezTo>
                  <a:pt x="4826" y="60"/>
                  <a:pt x="4974" y="114"/>
                  <a:pt x="5113" y="178"/>
                </a:cubicBezTo>
                <a:cubicBezTo>
                  <a:pt x="5942" y="556"/>
                  <a:pt x="6580" y="1269"/>
                  <a:pt x="6957" y="2018"/>
                </a:cubicBezTo>
                <a:lnTo>
                  <a:pt x="6968" y="2038"/>
                </a:lnTo>
                <a:lnTo>
                  <a:pt x="6968" y="4982"/>
                </a:lnTo>
                <a:lnTo>
                  <a:pt x="6964" y="4991"/>
                </a:lnTo>
                <a:cubicBezTo>
                  <a:pt x="6762" y="5444"/>
                  <a:pt x="6516" y="5770"/>
                  <a:pt x="6273" y="6011"/>
                </a:cubicBezTo>
                <a:cubicBezTo>
                  <a:pt x="6354" y="6039"/>
                  <a:pt x="6429" y="6084"/>
                  <a:pt x="6492" y="6142"/>
                </a:cubicBezTo>
                <a:cubicBezTo>
                  <a:pt x="6680" y="6322"/>
                  <a:pt x="6659" y="6594"/>
                  <a:pt x="6210" y="6799"/>
                </a:cubicBezTo>
                <a:cubicBezTo>
                  <a:pt x="5803" y="6983"/>
                  <a:pt x="5382" y="6891"/>
                  <a:pt x="5199" y="6701"/>
                </a:cubicBezTo>
                <a:lnTo>
                  <a:pt x="5199" y="6702"/>
                </a:lnTo>
                <a:cubicBezTo>
                  <a:pt x="3841" y="7233"/>
                  <a:pt x="1861" y="6912"/>
                  <a:pt x="962" y="5825"/>
                </a:cubicBezTo>
                <a:cubicBezTo>
                  <a:pt x="-508" y="4047"/>
                  <a:pt x="-249" y="1959"/>
                  <a:pt x="1437" y="565"/>
                </a:cubicBezTo>
                <a:cubicBezTo>
                  <a:pt x="1749" y="306"/>
                  <a:pt x="2132" y="121"/>
                  <a:pt x="2544" y="6"/>
                </a:cubicBezTo>
                <a:lnTo>
                  <a:pt x="2567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</p:spPr>
      </p:pic>
      <p:sp>
        <p:nvSpPr>
          <p:cNvPr id="5" name="Freeform 5"/>
          <p:cNvSpPr/>
          <p:nvPr/>
        </p:nvSpPr>
        <p:spPr>
          <a:xfrm>
            <a:off x="11803380" y="5060950"/>
            <a:ext cx="402590" cy="380365"/>
          </a:xfrm>
          <a:custGeom>
            <a:avLst/>
            <a:gdLst/>
            <a:ahLst/>
            <a:cxnLst/>
            <a:rect l="l" t="t" r="r" b="b"/>
            <a:pathLst>
              <a:path w="369050" h="356887">
                <a:moveTo>
                  <a:pt x="206400" y="226"/>
                </a:moveTo>
                <a:cubicBezTo>
                  <a:pt x="232796" y="-1058"/>
                  <a:pt x="260778" y="3088"/>
                  <a:pt x="289760" y="14067"/>
                </a:cubicBezTo>
                <a:cubicBezTo>
                  <a:pt x="473899" y="84477"/>
                  <a:pt x="308602" y="423547"/>
                  <a:pt x="86879" y="345218"/>
                </a:cubicBezTo>
                <a:cubicBezTo>
                  <a:pt x="-85361" y="284346"/>
                  <a:pt x="21634" y="9218"/>
                  <a:pt x="206400" y="226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1753850" y="5060950"/>
            <a:ext cx="402590" cy="380365"/>
          </a:xfrm>
          <a:custGeom>
            <a:avLst/>
            <a:gdLst/>
            <a:ahLst/>
            <a:cxnLst/>
            <a:rect l="l" t="t" r="r" b="b"/>
            <a:pathLst>
              <a:path w="369050" h="356887">
                <a:moveTo>
                  <a:pt x="206400" y="226"/>
                </a:moveTo>
                <a:cubicBezTo>
                  <a:pt x="232796" y="-1058"/>
                  <a:pt x="260778" y="3088"/>
                  <a:pt x="289760" y="14067"/>
                </a:cubicBezTo>
                <a:cubicBezTo>
                  <a:pt x="473899" y="84477"/>
                  <a:pt x="308602" y="423547"/>
                  <a:pt x="86879" y="345218"/>
                </a:cubicBezTo>
                <a:cubicBezTo>
                  <a:pt x="-85361" y="284346"/>
                  <a:pt x="21634" y="9218"/>
                  <a:pt x="206400" y="226"/>
                </a:cubicBezTo>
                <a:close/>
              </a:path>
            </a:pathLst>
          </a:custGeom>
          <a:noFill/>
          <a:ln w="19050" cap="flat">
            <a:solidFill>
              <a:srgbClr val="4A4A4A"/>
            </a:solidFill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59815" y="2402205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dashboard is structured into three main pages: Home Page, Overview Page, and Insights Page. This design ensures intuitive navigation and focused data exploration.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059815" y="1862455"/>
            <a:ext cx="50400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Navigation Flow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Dashboard Structure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705" y="1285875"/>
            <a:ext cx="8056245" cy="5211445"/>
          </a:xfrm>
          <a:prstGeom prst="rect">
            <a:avLst/>
          </a:prstGeom>
          <a:solidFill>
            <a:srgbClr val="FAE7E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74.jpeg"/>
          <p:cNvPicPr>
            <a:picLocks noChangeAspect="1"/>
          </p:cNvPicPr>
          <p:nvPr/>
        </p:nvPicPr>
        <p:blipFill rotWithShape="1">
          <a:blip r:embed="rId3"/>
          <a:srcRect l="1416" r="1416"/>
          <a:stretch>
            <a:fillRect/>
          </a:stretch>
        </p:blipFill>
        <p:spPr>
          <a:xfrm>
            <a:off x="6305550" y="1873250"/>
            <a:ext cx="5886450" cy="4036695"/>
          </a:xfrm>
          <a:custGeom>
            <a:avLst/>
            <a:gdLst/>
            <a:ahLst/>
            <a:cxnLst/>
            <a:rect l="0" t="0" r="0" b="0"/>
            <a:pathLst>
              <a:path w="6120000" h="4500000">
                <a:moveTo>
                  <a:pt x="0" y="0"/>
                </a:moveTo>
                <a:lnTo>
                  <a:pt x="6120000" y="0"/>
                </a:lnTo>
                <a:lnTo>
                  <a:pt x="6120000" y="4500000"/>
                </a:lnTo>
                <a:lnTo>
                  <a:pt x="0" y="4500000"/>
                </a:lnTo>
                <a:close/>
              </a:path>
            </a:pathLst>
          </a:custGeom>
          <a:ln w="6350">
            <a:solidFill>
              <a:schemeClr val="tx1">
                <a:alpha val="50000"/>
                <a:lumMod val="40000"/>
                <a:lumOff val="60000"/>
              </a:schemeClr>
            </a:solidFill>
          </a:ln>
          <a:effectLst>
            <a:outerShdw blurRad="254000" dist="381000" dir="8400000" algn="t" rotWithShape="0">
              <a:schemeClr val="accent1">
                <a:alpha val="15000"/>
                <a:lumMod val="50000"/>
              </a:schemeClr>
            </a:outerShdw>
          </a:effectLst>
        </p:spPr>
      </p:pic>
      <p:grpSp>
        <p:nvGrpSpPr>
          <p:cNvPr id="4" name="Group 4"/>
          <p:cNvGrpSpPr/>
          <p:nvPr/>
        </p:nvGrpSpPr>
        <p:grpSpPr>
          <a:xfrm>
            <a:off x="873125" y="2184718"/>
            <a:ext cx="4913630" cy="3413760"/>
            <a:chOff x="1805" y="3251"/>
            <a:chExt cx="7936" cy="5376"/>
          </a:xfrm>
        </p:grpSpPr>
        <p:sp>
          <p:nvSpPr>
            <p:cNvPr id="5" name="TextBox 5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Home Page serves as the entry point, featuring navigation buttons for "Overview" and "Insights." This provides users with direct access to the dashboard's core analytical sections.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D5D30"/>
                  </a:solidFill>
                  <a:latin typeface="思源黑体 Normal"/>
                  <a:ea typeface="思源黑体 Normal"/>
                </a:rPr>
                <a:t>Navigation Interface</a:t>
              </a:r>
              <a:endParaRPr lang="en-US" sz="1100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Home Page</a:t>
            </a:r>
            <a:endParaRPr lang="en-US" sz="1100"/>
          </a:p>
        </p:txBody>
      </p:sp>
      <p:pic>
        <p:nvPicPr>
          <p:cNvPr id="10" name="Picture 9" descr="A blue and white cover with text">
            <a:extLst>
              <a:ext uri="{FF2B5EF4-FFF2-40B4-BE49-F238E27FC236}">
                <a16:creationId xmlns:a16="http://schemas.microsoft.com/office/drawing/2014/main" id="{DF8AF176-A287-0D3B-BEF7-C6A0C29309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451" y="1873250"/>
            <a:ext cx="6324600" cy="40366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83223" y="694720"/>
            <a:ext cx="1140903" cy="1140903"/>
          </a:xfrm>
          <a:custGeom>
            <a:avLst/>
            <a:gdLst/>
            <a:ahLst/>
            <a:cxnLst/>
            <a:rect l="l" t="t" r="r" b="b"/>
            <a:pathLst>
              <a:path w="1384798" h="1384798">
                <a:moveTo>
                  <a:pt x="1384799" y="692399"/>
                </a:moveTo>
                <a:cubicBezTo>
                  <a:pt x="1384799" y="1074801"/>
                  <a:pt x="1074801" y="1384799"/>
                  <a:pt x="692399" y="1384799"/>
                </a:cubicBezTo>
                <a:cubicBezTo>
                  <a:pt x="309998" y="1384799"/>
                  <a:pt x="0" y="1074801"/>
                  <a:pt x="0" y="692399"/>
                </a:cubicBezTo>
                <a:cubicBezTo>
                  <a:pt x="0" y="309998"/>
                  <a:pt x="309998" y="0"/>
                  <a:pt x="692399" y="0"/>
                </a:cubicBezTo>
                <a:cubicBezTo>
                  <a:pt x="1074801" y="0"/>
                  <a:pt x="1384799" y="309998"/>
                  <a:pt x="1384799" y="6923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  <a:lumMod val="0"/>
                  <a:lumOff val="100000"/>
                </a:schemeClr>
              </a:gs>
              <a:gs pos="46000">
                <a:schemeClr val="accent3">
                  <a:alpha val="35000"/>
                  <a:lumMod val="20000"/>
                  <a:lumOff val="80000"/>
                </a:schemeClr>
              </a:gs>
              <a:gs pos="74000">
                <a:schemeClr val="accent3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931527" y="5210315"/>
            <a:ext cx="667320" cy="667320"/>
          </a:xfrm>
          <a:custGeom>
            <a:avLst/>
            <a:gdLst/>
            <a:ahLst/>
            <a:cxnLst/>
            <a:rect l="l" t="t" r="r" b="b"/>
            <a:pathLst>
              <a:path w="591398" h="591398">
                <a:moveTo>
                  <a:pt x="591399" y="295699"/>
                </a:moveTo>
                <a:cubicBezTo>
                  <a:pt x="591399" y="459010"/>
                  <a:pt x="459010" y="591399"/>
                  <a:pt x="295699" y="591399"/>
                </a:cubicBezTo>
                <a:cubicBezTo>
                  <a:pt x="132389" y="591399"/>
                  <a:pt x="0" y="459010"/>
                  <a:pt x="0" y="295699"/>
                </a:cubicBezTo>
                <a:cubicBezTo>
                  <a:pt x="0" y="132389"/>
                  <a:pt x="132389" y="0"/>
                  <a:pt x="295699" y="0"/>
                </a:cubicBezTo>
                <a:cubicBezTo>
                  <a:pt x="459010" y="0"/>
                  <a:pt x="591399" y="132389"/>
                  <a:pt x="591399" y="2956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  <a:lumMod val="0"/>
                  <a:lumOff val="100000"/>
                </a:schemeClr>
              </a:gs>
              <a:gs pos="26000">
                <a:schemeClr val="accent3">
                  <a:alpha val="5000"/>
                  <a:lumMod val="20000"/>
                  <a:lumOff val="80000"/>
                </a:schemeClr>
              </a:gs>
              <a:gs pos="85000">
                <a:schemeClr val="accent3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7016029" y="686928"/>
            <a:ext cx="4113713" cy="5794202"/>
          </a:xfrm>
          <a:custGeom>
            <a:avLst/>
            <a:gdLst/>
            <a:ahLst/>
            <a:cxnLst/>
            <a:rect l="l" t="t" r="r" b="b"/>
            <a:pathLst>
              <a:path w="3645689" h="5134986">
                <a:moveTo>
                  <a:pt x="1822845" y="0"/>
                </a:moveTo>
                <a:lnTo>
                  <a:pt x="1822845" y="0"/>
                </a:lnTo>
                <a:cubicBezTo>
                  <a:pt x="2829560" y="0"/>
                  <a:pt x="3645690" y="816130"/>
                  <a:pt x="3645690" y="1822845"/>
                </a:cubicBezTo>
                <a:lnTo>
                  <a:pt x="3645690" y="2567493"/>
                </a:lnTo>
                <a:lnTo>
                  <a:pt x="3645690" y="3312141"/>
                </a:lnTo>
                <a:lnTo>
                  <a:pt x="3645690" y="5134987"/>
                </a:lnTo>
                <a:lnTo>
                  <a:pt x="1822845" y="5134987"/>
                </a:lnTo>
                <a:lnTo>
                  <a:pt x="1822845" y="5134987"/>
                </a:lnTo>
                <a:lnTo>
                  <a:pt x="1822845" y="5134987"/>
                </a:lnTo>
                <a:cubicBezTo>
                  <a:pt x="816130" y="5134987"/>
                  <a:pt x="0" y="4318856"/>
                  <a:pt x="0" y="3312141"/>
                </a:cubicBezTo>
                <a:lnTo>
                  <a:pt x="0" y="1822845"/>
                </a:lnTo>
                <a:cubicBezTo>
                  <a:pt x="0" y="816130"/>
                  <a:pt x="816130" y="0"/>
                  <a:pt x="1822845" y="0"/>
                </a:cubicBezTo>
                <a:close/>
              </a:path>
            </a:pathLst>
          </a:custGeom>
          <a:solidFill>
            <a:schemeClr val="accent3">
              <a:alpha val="7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pic>
        <p:nvPicPr>
          <p:cNvPr id="5" name="image67.jpeg"/>
          <p:cNvPicPr>
            <a:picLocks noChangeAspect="1"/>
          </p:cNvPicPr>
          <p:nvPr/>
        </p:nvPicPr>
        <p:blipFill>
          <a:blip r:embed="rId3"/>
          <a:srcRect l="37824" t="1151" r="11240" b="1513"/>
          <a:stretch>
            <a:fillRect/>
          </a:stretch>
        </p:blipFill>
        <p:spPr>
          <a:xfrm>
            <a:off x="7120038" y="596899"/>
            <a:ext cx="4113713" cy="5794202"/>
          </a:xfrm>
          <a:custGeom>
            <a:avLst/>
            <a:gdLst/>
            <a:ahLst/>
            <a:cxnLst/>
            <a:rect l="0" t="0" r="0" b="0"/>
            <a:pathLst>
              <a:path w="3645690" h="5134987">
                <a:moveTo>
                  <a:pt x="1822845" y="0"/>
                </a:moveTo>
                <a:cubicBezTo>
                  <a:pt x="2829560" y="0"/>
                  <a:pt x="3645690" y="816130"/>
                  <a:pt x="3645690" y="1822845"/>
                </a:cubicBezTo>
                <a:lnTo>
                  <a:pt x="3645690" y="2567493"/>
                </a:lnTo>
                <a:lnTo>
                  <a:pt x="3645690" y="3312141"/>
                </a:lnTo>
                <a:lnTo>
                  <a:pt x="3645690" y="5134987"/>
                </a:lnTo>
                <a:lnTo>
                  <a:pt x="1822845" y="5134987"/>
                </a:lnTo>
                <a:cubicBezTo>
                  <a:pt x="816130" y="5134987"/>
                  <a:pt x="0" y="4318856"/>
                  <a:pt x="0" y="3312141"/>
                </a:cubicBezTo>
                <a:lnTo>
                  <a:pt x="0" y="1822845"/>
                </a:lnTo>
                <a:cubicBezTo>
                  <a:pt x="0" y="816130"/>
                  <a:pt x="816130" y="0"/>
                  <a:pt x="1822845" y="0"/>
                </a:cubicBezTo>
                <a:close/>
              </a:path>
            </a:pathLst>
          </a:custGeom>
          <a:noFill/>
          <a:ln w="6350">
            <a:solidFill>
              <a:schemeClr val="accent3">
                <a:alpha val="20000"/>
              </a:schemeClr>
            </a:solidFill>
          </a:ln>
        </p:spPr>
      </p:pic>
      <p:grpSp>
        <p:nvGrpSpPr>
          <p:cNvPr id="6" name="Group 6"/>
          <p:cNvGrpSpPr/>
          <p:nvPr/>
        </p:nvGrpSpPr>
        <p:grpSpPr>
          <a:xfrm>
            <a:off x="1146175" y="2128520"/>
            <a:ext cx="5039360" cy="3413760"/>
            <a:chOff x="1805" y="3251"/>
            <a:chExt cx="7936" cy="5376"/>
          </a:xfrm>
        </p:grpSpPr>
        <p:sp>
          <p:nvSpPr>
            <p:cNvPr id="7" name="TextBox 7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Overview Page displays KPI Cards for Total Listings, Avg Price, Avg Price/Sqft, and Property Age. It includes a Bar Chart for Listings by Neighborhood, Pie Charts for Property Type, Category, and Furnishing, plus a Neighborhood Slicer.</a:t>
              </a:r>
              <a:endParaRPr lang="en-US" sz="11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D5D30"/>
                  </a:solidFill>
                  <a:latin typeface="思源黑体 Normal"/>
                  <a:ea typeface="思源黑体 Normal"/>
                </a:rPr>
                <a:t>Visual Overview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Overview Page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7C3C4C35-45C8-3FE5-1587-153B6ECC730D}"/>
              </a:ext>
            </a:extLst>
          </p:cNvPr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D3444-2AAB-7BCF-B85A-040946314A24}"/>
              </a:ext>
            </a:extLst>
          </p:cNvPr>
          <p:cNvSpPr txBox="1"/>
          <p:nvPr/>
        </p:nvSpPr>
        <p:spPr>
          <a:xfrm>
            <a:off x="990600" y="38706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/>
                <a:solidFill>
                  <a:srgbClr val="DD5D30"/>
                </a:solidFill>
                <a:effectLst/>
                <a:uLnTx/>
                <a:uFillTx/>
                <a:latin typeface="思源黑体 Normal"/>
                <a:ea typeface="思源黑体 Normal"/>
                <a:cs typeface="+mn-cs"/>
              </a:rPr>
              <a:t>Overview Page ScreenShots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 Normal"/>
              <a:cs typeface="+mn-cs"/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33553687-6A4C-F136-8206-CB259F38A981}"/>
              </a:ext>
            </a:extLst>
          </p:cNvPr>
          <p:cNvSpPr/>
          <p:nvPr/>
        </p:nvSpPr>
        <p:spPr>
          <a:xfrm>
            <a:off x="10363200" y="369856"/>
            <a:ext cx="1140903" cy="1140903"/>
          </a:xfrm>
          <a:custGeom>
            <a:avLst/>
            <a:gdLst/>
            <a:ahLst/>
            <a:cxnLst/>
            <a:rect l="l" t="t" r="r" b="b"/>
            <a:pathLst>
              <a:path w="1384798" h="1384798">
                <a:moveTo>
                  <a:pt x="1384799" y="692399"/>
                </a:moveTo>
                <a:cubicBezTo>
                  <a:pt x="1384799" y="1074801"/>
                  <a:pt x="1074801" y="1384799"/>
                  <a:pt x="692399" y="1384799"/>
                </a:cubicBezTo>
                <a:cubicBezTo>
                  <a:pt x="309998" y="1384799"/>
                  <a:pt x="0" y="1074801"/>
                  <a:pt x="0" y="692399"/>
                </a:cubicBezTo>
                <a:cubicBezTo>
                  <a:pt x="0" y="309998"/>
                  <a:pt x="309998" y="0"/>
                  <a:pt x="692399" y="0"/>
                </a:cubicBezTo>
                <a:cubicBezTo>
                  <a:pt x="1074801" y="0"/>
                  <a:pt x="1384799" y="309998"/>
                  <a:pt x="1384799" y="6923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  <a:lumMod val="0"/>
                  <a:lumOff val="100000"/>
                </a:schemeClr>
              </a:gs>
              <a:gs pos="46000">
                <a:schemeClr val="accent3">
                  <a:alpha val="35000"/>
                  <a:lumMod val="20000"/>
                  <a:lumOff val="80000"/>
                </a:schemeClr>
              </a:gs>
              <a:gs pos="74000">
                <a:schemeClr val="accent3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F57077-B957-4807-5B07-F87B3A977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8" y="972261"/>
            <a:ext cx="9815512" cy="5676441"/>
          </a:xfrm>
          <a:prstGeom prst="rect">
            <a:avLst/>
          </a:prstGeom>
        </p:spPr>
      </p:pic>
      <p:sp>
        <p:nvSpPr>
          <p:cNvPr id="11" name="Freeform 2">
            <a:extLst>
              <a:ext uri="{FF2B5EF4-FFF2-40B4-BE49-F238E27FC236}">
                <a16:creationId xmlns:a16="http://schemas.microsoft.com/office/drawing/2014/main" id="{31BD949B-25EB-2553-D5D7-E2D710C115BA}"/>
              </a:ext>
            </a:extLst>
          </p:cNvPr>
          <p:cNvSpPr/>
          <p:nvPr/>
        </p:nvSpPr>
        <p:spPr>
          <a:xfrm rot="3181747">
            <a:off x="10363199" y="4019195"/>
            <a:ext cx="1140903" cy="1140903"/>
          </a:xfrm>
          <a:custGeom>
            <a:avLst/>
            <a:gdLst/>
            <a:ahLst/>
            <a:cxnLst/>
            <a:rect l="l" t="t" r="r" b="b"/>
            <a:pathLst>
              <a:path w="1384798" h="1384798">
                <a:moveTo>
                  <a:pt x="1384799" y="692399"/>
                </a:moveTo>
                <a:cubicBezTo>
                  <a:pt x="1384799" y="1074801"/>
                  <a:pt x="1074801" y="1384799"/>
                  <a:pt x="692399" y="1384799"/>
                </a:cubicBezTo>
                <a:cubicBezTo>
                  <a:pt x="309998" y="1384799"/>
                  <a:pt x="0" y="1074801"/>
                  <a:pt x="0" y="692399"/>
                </a:cubicBezTo>
                <a:cubicBezTo>
                  <a:pt x="0" y="309998"/>
                  <a:pt x="309998" y="0"/>
                  <a:pt x="692399" y="0"/>
                </a:cubicBezTo>
                <a:cubicBezTo>
                  <a:pt x="1074801" y="0"/>
                  <a:pt x="1384799" y="309998"/>
                  <a:pt x="1384799" y="6923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  <a:lumMod val="0"/>
                  <a:lumOff val="100000"/>
                </a:schemeClr>
              </a:gs>
              <a:gs pos="46000">
                <a:schemeClr val="accent3">
                  <a:alpha val="35000"/>
                  <a:lumMod val="20000"/>
                  <a:lumOff val="80000"/>
                </a:schemeClr>
              </a:gs>
              <a:gs pos="74000">
                <a:schemeClr val="accent3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 dirty="0"/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6F112E72-356A-58F5-6A71-18CCA6B7ABA1}"/>
              </a:ext>
            </a:extLst>
          </p:cNvPr>
          <p:cNvSpPr/>
          <p:nvPr/>
        </p:nvSpPr>
        <p:spPr>
          <a:xfrm rot="10800000">
            <a:off x="420149" y="5652425"/>
            <a:ext cx="1140903" cy="1140903"/>
          </a:xfrm>
          <a:custGeom>
            <a:avLst/>
            <a:gdLst/>
            <a:ahLst/>
            <a:cxnLst/>
            <a:rect l="l" t="t" r="r" b="b"/>
            <a:pathLst>
              <a:path w="1384798" h="1384798">
                <a:moveTo>
                  <a:pt x="1384799" y="692399"/>
                </a:moveTo>
                <a:cubicBezTo>
                  <a:pt x="1384799" y="1074801"/>
                  <a:pt x="1074801" y="1384799"/>
                  <a:pt x="692399" y="1384799"/>
                </a:cubicBezTo>
                <a:cubicBezTo>
                  <a:pt x="309998" y="1384799"/>
                  <a:pt x="0" y="1074801"/>
                  <a:pt x="0" y="692399"/>
                </a:cubicBezTo>
                <a:cubicBezTo>
                  <a:pt x="0" y="309998"/>
                  <a:pt x="309998" y="0"/>
                  <a:pt x="692399" y="0"/>
                </a:cubicBezTo>
                <a:cubicBezTo>
                  <a:pt x="1074801" y="0"/>
                  <a:pt x="1384799" y="309998"/>
                  <a:pt x="1384799" y="6923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  <a:lumMod val="0"/>
                  <a:lumOff val="100000"/>
                </a:schemeClr>
              </a:gs>
              <a:gs pos="46000">
                <a:schemeClr val="accent3">
                  <a:alpha val="35000"/>
                  <a:lumMod val="20000"/>
                  <a:lumOff val="80000"/>
                </a:schemeClr>
              </a:gs>
              <a:gs pos="74000">
                <a:schemeClr val="accent3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7543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85610" y="1186180"/>
            <a:ext cx="4229735" cy="4746625"/>
            <a:chOff x="10686" y="1868"/>
            <a:chExt cx="6661" cy="7475"/>
          </a:xfrm>
        </p:grpSpPr>
        <p:sp>
          <p:nvSpPr>
            <p:cNvPr id="3" name="Freeform 3"/>
            <p:cNvSpPr/>
            <p:nvPr/>
          </p:nvSpPr>
          <p:spPr>
            <a:xfrm>
              <a:off x="10686" y="2682"/>
              <a:ext cx="6661" cy="6661"/>
            </a:xfrm>
            <a:custGeom>
              <a:avLst/>
              <a:gdLst/>
              <a:ahLst/>
              <a:cxnLst/>
              <a:rect l="l" t="t" r="r" b="b"/>
              <a:pathLst>
                <a:path w="3749402" h="3749402">
                  <a:moveTo>
                    <a:pt x="0" y="0"/>
                  </a:moveTo>
                  <a:lnTo>
                    <a:pt x="3749402" y="0"/>
                  </a:lnTo>
                  <a:lnTo>
                    <a:pt x="3749402" y="3749402"/>
                  </a:lnTo>
                  <a:lnTo>
                    <a:pt x="3242443" y="3749402"/>
                  </a:lnTo>
                  <a:lnTo>
                    <a:pt x="3230680" y="3702351"/>
                  </a:lnTo>
                  <a:lnTo>
                    <a:pt x="2396290" y="3702351"/>
                  </a:lnTo>
                  <a:lnTo>
                    <a:pt x="2384527" y="3749402"/>
                  </a:lnTo>
                  <a:lnTo>
                    <a:pt x="2309755" y="3749402"/>
                  </a:lnTo>
                  <a:lnTo>
                    <a:pt x="2297992" y="3702351"/>
                  </a:lnTo>
                  <a:lnTo>
                    <a:pt x="1463602" y="3702351"/>
                  </a:lnTo>
                  <a:lnTo>
                    <a:pt x="1451839" y="3749402"/>
                  </a:lnTo>
                  <a:lnTo>
                    <a:pt x="1364875" y="3749402"/>
                  </a:lnTo>
                  <a:lnTo>
                    <a:pt x="1353112" y="3702351"/>
                  </a:lnTo>
                  <a:lnTo>
                    <a:pt x="518722" y="3702351"/>
                  </a:lnTo>
                  <a:lnTo>
                    <a:pt x="506959" y="3749402"/>
                  </a:lnTo>
                  <a:lnTo>
                    <a:pt x="0" y="374940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25000"/>
                  </a:schemeClr>
                </a:gs>
                <a:gs pos="52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</a:gsLst>
              <a:lin ang="2700000"/>
            </a:gradFill>
            <a:ln w="6350">
              <a:solidFill>
                <a:schemeClr val="accent1">
                  <a:alpha val="40000"/>
                </a:schemeClr>
              </a:solidFill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pic>
          <p:nvPicPr>
            <p:cNvPr id="4" name="image77.jpeg"/>
            <p:cNvPicPr>
              <a:picLocks noChangeAspect="1"/>
            </p:cNvPicPr>
            <p:nvPr/>
          </p:nvPicPr>
          <p:blipFill>
            <a:blip r:embed="rId3"/>
            <a:srcRect l="11412" r="11412"/>
            <a:stretch>
              <a:fillRect/>
            </a:stretch>
          </p:blipFill>
          <p:spPr>
            <a:xfrm>
              <a:off x="11018" y="3099"/>
              <a:ext cx="5998" cy="5827"/>
            </a:xfrm>
            <a:custGeom>
              <a:avLst/>
              <a:gdLst/>
              <a:ahLst/>
              <a:cxnLst/>
              <a:rect l="0" t="0" r="0" b="0"/>
              <a:pathLst>
                <a:path w="5133" h="4987">
                  <a:moveTo>
                    <a:pt x="0" y="0"/>
                  </a:moveTo>
                  <a:lnTo>
                    <a:pt x="5133" y="0"/>
                  </a:lnTo>
                  <a:lnTo>
                    <a:pt x="5133" y="4987"/>
                  </a:lnTo>
                  <a:lnTo>
                    <a:pt x="0" y="4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6200000"/>
              </a:gradFill>
            </a:ln>
          </p:spPr>
        </p:pic>
        <p:pic>
          <p:nvPicPr>
            <p:cNvPr id="5" name="image78.png"/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atMod val="135000"/>
                  <a:shade val="45000"/>
                </a:schemeClr>
                <a:prstClr val="white"/>
              </a:duotone>
            </a:blip>
            <a:srcRect t="4167" b="9100"/>
            <a:stretch>
              <a:fillRect/>
            </a:stretch>
          </p:blipFill>
          <p:spPr>
            <a:xfrm>
              <a:off x="12018" y="1868"/>
              <a:ext cx="3768" cy="1545"/>
            </a:xfrm>
            <a:prstGeom prst="rect">
              <a:avLst/>
            </a:prstGeom>
          </p:spPr>
        </p:pic>
        <p:sp>
          <p:nvSpPr>
            <p:cNvPr id="6" name="Freeform 6"/>
            <p:cNvSpPr/>
            <p:nvPr/>
          </p:nvSpPr>
          <p:spPr>
            <a:xfrm>
              <a:off x="10694" y="2690"/>
              <a:ext cx="1352" cy="418"/>
            </a:xfrm>
            <a:custGeom>
              <a:avLst/>
              <a:gdLst/>
              <a:ahLst/>
              <a:cxnLst/>
              <a:rect l="l" t="t" r="r" b="b"/>
              <a:pathLst>
                <a:path w="1360968" h="457200">
                  <a:moveTo>
                    <a:pt x="1360968" y="0"/>
                  </a:moveTo>
                  <a:lnTo>
                    <a:pt x="0" y="0"/>
                  </a:ln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  <p:txBody>
            <a:bodyPr vert="horz" lIns="91440" tIns="45720" rIns="91440" bIns="45720" anchor="ctr"/>
            <a:lstStyle/>
            <a:p>
              <a:pPr marL="0"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" name="AutoShape 7"/>
            <p:cNvSpPr/>
            <p:nvPr/>
          </p:nvSpPr>
          <p:spPr>
            <a:xfrm rot="10800000" flipH="1">
              <a:off x="10694" y="2690"/>
              <a:ext cx="264" cy="165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8" name="Connector 8"/>
            <p:cNvCxnSpPr/>
            <p:nvPr/>
          </p:nvCxnSpPr>
          <p:spPr>
            <a:xfrm>
              <a:off x="10725" y="2941"/>
              <a:ext cx="0" cy="124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</p:cxnSp>
        <p:sp>
          <p:nvSpPr>
            <p:cNvPr id="9" name="Freeform 9"/>
            <p:cNvSpPr/>
            <p:nvPr/>
          </p:nvSpPr>
          <p:spPr>
            <a:xfrm>
              <a:off x="11260" y="2647"/>
              <a:ext cx="394" cy="40"/>
            </a:xfrm>
            <a:custGeom>
              <a:avLst/>
              <a:gdLst/>
              <a:ahLst/>
              <a:cxnLst/>
              <a:rect l="l" t="t" r="r" b="b"/>
              <a:pathLst>
                <a:path w="220641" h="40720">
                  <a:moveTo>
                    <a:pt x="149306" y="0"/>
                  </a:moveTo>
                  <a:lnTo>
                    <a:pt x="220641" y="39541"/>
                  </a:lnTo>
                  <a:lnTo>
                    <a:pt x="0" y="40720"/>
                  </a:lnTo>
                  <a:lnTo>
                    <a:pt x="22194" y="680"/>
                  </a:lnTo>
                  <a:lnTo>
                    <a:pt x="149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 flipV="1">
              <a:off x="16863" y="8918"/>
              <a:ext cx="471" cy="409"/>
            </a:xfrm>
            <a:custGeom>
              <a:avLst/>
              <a:gdLst/>
              <a:ahLst/>
              <a:cxnLst/>
              <a:rect l="l" t="t" r="r" b="b"/>
              <a:pathLst>
                <a:path w="571" h="409">
                  <a:moveTo>
                    <a:pt x="0" y="0"/>
                  </a:moveTo>
                  <a:lnTo>
                    <a:pt x="571" y="0"/>
                  </a:lnTo>
                  <a:lnTo>
                    <a:pt x="569" y="409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 rot="10800000" flipH="1">
              <a:off x="11018" y="9053"/>
              <a:ext cx="1430" cy="97"/>
            </a:xfrm>
            <a:custGeom>
              <a:avLst/>
              <a:gdLst/>
              <a:ahLst/>
              <a:cxnLst/>
              <a:rect l="l" t="t" r="r" b="b"/>
              <a:pathLst>
                <a:path w="1430" h="97">
                  <a:moveTo>
                    <a:pt x="0" y="97"/>
                  </a:moveTo>
                  <a:lnTo>
                    <a:pt x="24" y="0"/>
                  </a:lnTo>
                  <a:lnTo>
                    <a:pt x="101" y="0"/>
                  </a:lnTo>
                  <a:lnTo>
                    <a:pt x="77" y="97"/>
                  </a:lnTo>
                  <a:lnTo>
                    <a:pt x="0" y="97"/>
                  </a:lnTo>
                  <a:close/>
                  <a:moveTo>
                    <a:pt x="133" y="97"/>
                  </a:moveTo>
                  <a:lnTo>
                    <a:pt x="157" y="0"/>
                  </a:lnTo>
                  <a:lnTo>
                    <a:pt x="234" y="0"/>
                  </a:lnTo>
                  <a:lnTo>
                    <a:pt x="210" y="97"/>
                  </a:lnTo>
                  <a:lnTo>
                    <a:pt x="133" y="97"/>
                  </a:lnTo>
                  <a:close/>
                  <a:moveTo>
                    <a:pt x="266" y="97"/>
                  </a:moveTo>
                  <a:lnTo>
                    <a:pt x="290" y="0"/>
                  </a:lnTo>
                  <a:lnTo>
                    <a:pt x="367" y="0"/>
                  </a:lnTo>
                  <a:lnTo>
                    <a:pt x="343" y="97"/>
                  </a:lnTo>
                  <a:lnTo>
                    <a:pt x="266" y="97"/>
                  </a:lnTo>
                  <a:close/>
                  <a:moveTo>
                    <a:pt x="399" y="97"/>
                  </a:moveTo>
                  <a:lnTo>
                    <a:pt x="423" y="0"/>
                  </a:lnTo>
                  <a:lnTo>
                    <a:pt x="500" y="0"/>
                  </a:lnTo>
                  <a:lnTo>
                    <a:pt x="476" y="97"/>
                  </a:lnTo>
                  <a:lnTo>
                    <a:pt x="399" y="97"/>
                  </a:lnTo>
                  <a:close/>
                  <a:moveTo>
                    <a:pt x="532" y="97"/>
                  </a:moveTo>
                  <a:lnTo>
                    <a:pt x="556" y="0"/>
                  </a:lnTo>
                  <a:lnTo>
                    <a:pt x="633" y="0"/>
                  </a:lnTo>
                  <a:lnTo>
                    <a:pt x="609" y="97"/>
                  </a:lnTo>
                  <a:lnTo>
                    <a:pt x="532" y="97"/>
                  </a:lnTo>
                  <a:close/>
                  <a:moveTo>
                    <a:pt x="664" y="97"/>
                  </a:moveTo>
                  <a:lnTo>
                    <a:pt x="688" y="0"/>
                  </a:lnTo>
                  <a:lnTo>
                    <a:pt x="765" y="0"/>
                  </a:lnTo>
                  <a:lnTo>
                    <a:pt x="741" y="97"/>
                  </a:lnTo>
                  <a:lnTo>
                    <a:pt x="664" y="97"/>
                  </a:lnTo>
                  <a:close/>
                  <a:moveTo>
                    <a:pt x="797" y="97"/>
                  </a:moveTo>
                  <a:lnTo>
                    <a:pt x="821" y="0"/>
                  </a:lnTo>
                  <a:lnTo>
                    <a:pt x="898" y="0"/>
                  </a:lnTo>
                  <a:lnTo>
                    <a:pt x="874" y="97"/>
                  </a:lnTo>
                  <a:lnTo>
                    <a:pt x="797" y="97"/>
                  </a:lnTo>
                  <a:close/>
                  <a:moveTo>
                    <a:pt x="930" y="97"/>
                  </a:moveTo>
                  <a:lnTo>
                    <a:pt x="954" y="0"/>
                  </a:lnTo>
                  <a:lnTo>
                    <a:pt x="1031" y="0"/>
                  </a:lnTo>
                  <a:lnTo>
                    <a:pt x="1007" y="97"/>
                  </a:lnTo>
                  <a:lnTo>
                    <a:pt x="930" y="97"/>
                  </a:lnTo>
                  <a:close/>
                  <a:moveTo>
                    <a:pt x="1063" y="97"/>
                  </a:moveTo>
                  <a:lnTo>
                    <a:pt x="1087" y="0"/>
                  </a:lnTo>
                  <a:lnTo>
                    <a:pt x="1164" y="0"/>
                  </a:lnTo>
                  <a:lnTo>
                    <a:pt x="1140" y="97"/>
                  </a:lnTo>
                  <a:lnTo>
                    <a:pt x="1063" y="97"/>
                  </a:lnTo>
                  <a:close/>
                  <a:moveTo>
                    <a:pt x="1196" y="97"/>
                  </a:moveTo>
                  <a:lnTo>
                    <a:pt x="1220" y="0"/>
                  </a:lnTo>
                  <a:lnTo>
                    <a:pt x="1297" y="0"/>
                  </a:lnTo>
                  <a:lnTo>
                    <a:pt x="1273" y="97"/>
                  </a:lnTo>
                  <a:lnTo>
                    <a:pt x="1196" y="97"/>
                  </a:lnTo>
                  <a:close/>
                  <a:moveTo>
                    <a:pt x="1329" y="97"/>
                  </a:moveTo>
                  <a:lnTo>
                    <a:pt x="1353" y="0"/>
                  </a:lnTo>
                  <a:lnTo>
                    <a:pt x="1430" y="0"/>
                  </a:lnTo>
                  <a:lnTo>
                    <a:pt x="1406" y="97"/>
                  </a:lnTo>
                  <a:lnTo>
                    <a:pt x="1329" y="9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tileRect/>
            </a:gradFill>
            <a:ln>
              <a:noFill/>
            </a:ln>
            <a:effectLst>
              <a:outerShdw blurRad="127000" algn="ctr" rotWithShape="0">
                <a:schemeClr val="accent1">
                  <a:alpha val="40000"/>
                </a:schemeClr>
              </a:outerShdw>
            </a:effectLst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 rot="16200000" flipV="1">
              <a:off x="7982" y="6319"/>
              <a:ext cx="5726" cy="130"/>
            </a:xfrm>
            <a:custGeom>
              <a:avLst/>
              <a:gdLst/>
              <a:ahLst/>
              <a:cxnLst/>
              <a:rect l="l" t="t" r="r" b="b"/>
              <a:pathLst>
                <a:path w="4210493" h="233916">
                  <a:moveTo>
                    <a:pt x="0" y="116958"/>
                  </a:moveTo>
                  <a:lnTo>
                    <a:pt x="744279" y="116958"/>
                  </a:lnTo>
                  <a:lnTo>
                    <a:pt x="1010093" y="0"/>
                  </a:lnTo>
                  <a:lnTo>
                    <a:pt x="1350335" y="0"/>
                  </a:lnTo>
                  <a:lnTo>
                    <a:pt x="2955851" y="0"/>
                  </a:lnTo>
                  <a:lnTo>
                    <a:pt x="3157870" y="233916"/>
                  </a:lnTo>
                  <a:lnTo>
                    <a:pt x="4210493" y="233916"/>
                  </a:lnTo>
                </a:path>
              </a:pathLst>
            </a:custGeom>
            <a:noFill/>
            <a:ln cap="rnd">
              <a:gradFill>
                <a:gsLst>
                  <a:gs pos="0">
                    <a:schemeClr val="accent1">
                      <a:alpha val="0"/>
                    </a:schemeClr>
                  </a:gs>
                  <a:gs pos="61000">
                    <a:schemeClr val="accent1">
                      <a:alpha val="59000"/>
                    </a:schemeClr>
                  </a:gs>
                  <a:gs pos="100000">
                    <a:srgbClr val="FFC955">
                      <a:alpha val="4000"/>
                    </a:srgbClr>
                  </a:gs>
                </a:gsLst>
                <a:lin ang="10800000"/>
                <a:tileRect/>
              </a:gradFill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 rot="5400000" flipH="1" flipV="1">
              <a:off x="14347" y="6319"/>
              <a:ext cx="5726" cy="130"/>
            </a:xfrm>
            <a:custGeom>
              <a:avLst/>
              <a:gdLst/>
              <a:ahLst/>
              <a:cxnLst/>
              <a:rect l="l" t="t" r="r" b="b"/>
              <a:pathLst>
                <a:path w="4210493" h="233916">
                  <a:moveTo>
                    <a:pt x="0" y="116958"/>
                  </a:moveTo>
                  <a:lnTo>
                    <a:pt x="744279" y="116958"/>
                  </a:lnTo>
                  <a:lnTo>
                    <a:pt x="1010093" y="0"/>
                  </a:lnTo>
                  <a:lnTo>
                    <a:pt x="1350335" y="0"/>
                  </a:lnTo>
                  <a:lnTo>
                    <a:pt x="2955851" y="0"/>
                  </a:lnTo>
                  <a:lnTo>
                    <a:pt x="3157870" y="233916"/>
                  </a:lnTo>
                  <a:lnTo>
                    <a:pt x="4210493" y="233916"/>
                  </a:lnTo>
                </a:path>
              </a:pathLst>
            </a:custGeom>
            <a:noFill/>
            <a:ln cap="rnd">
              <a:gradFill>
                <a:gsLst>
                  <a:gs pos="0">
                    <a:schemeClr val="accent1">
                      <a:alpha val="0"/>
                    </a:schemeClr>
                  </a:gs>
                  <a:gs pos="61000">
                    <a:schemeClr val="accent1">
                      <a:alpha val="59000"/>
                    </a:schemeClr>
                  </a:gs>
                  <a:gs pos="100000">
                    <a:srgbClr val="FFC955">
                      <a:alpha val="4000"/>
                    </a:srgbClr>
                  </a:gs>
                </a:gsLst>
                <a:lin ang="10800000"/>
                <a:tileRect/>
              </a:gradFill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6175" y="2128520"/>
            <a:ext cx="5039360" cy="3413760"/>
            <a:chOff x="1805" y="3251"/>
            <a:chExt cx="7936" cy="5376"/>
          </a:xfrm>
        </p:grpSpPr>
        <p:sp>
          <p:nvSpPr>
            <p:cNvPr id="15" name="TextBox 15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Insights Page features KPI Cards for Avg Bedrooms, Avg Bathrooms, and Avg Price. It includes a Scatter Plot for Price vs. SquareFeet, Pie Charts for Furnishing Status and Listing Category, and a Stacked Bar Chart for Top 5 Neighborhoods by Price.</a:t>
              </a:r>
              <a:endParaRPr lang="en-US" sz="11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D5D30"/>
                  </a:solidFill>
                  <a:latin typeface="思源黑体 Normal"/>
                  <a:ea typeface="思源黑体 Normal"/>
                </a:rPr>
                <a:t>Detailed Analysis</a:t>
              </a:r>
              <a:endParaRPr lang="en-US" sz="1100"/>
            </a:p>
          </p:txBody>
        </p:sp>
      </p:grpSp>
      <p:sp>
        <p:nvSpPr>
          <p:cNvPr id="17" name="Freeform 1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Insights Page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B14EB-3E89-3430-C9AB-B9A85D15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A7CD3CFF-FEF3-295E-A2E3-B2BF903CDE5C}"/>
              </a:ext>
            </a:extLst>
          </p:cNvPr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B6DC0C-0E6E-2A6A-FCD1-1BCFEC7F64BE}"/>
              </a:ext>
            </a:extLst>
          </p:cNvPr>
          <p:cNvSpPr txBox="1"/>
          <p:nvPr/>
        </p:nvSpPr>
        <p:spPr>
          <a:xfrm>
            <a:off x="990600" y="38706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b="1" dirty="0">
                <a:ln/>
                <a:solidFill>
                  <a:srgbClr val="DD5D30"/>
                </a:solidFill>
              </a:rPr>
              <a:t>Insights</a:t>
            </a:r>
            <a:r>
              <a:rPr kumimoji="0" lang="en-US" sz="3200" b="1" i="0" u="none" strike="noStrike" kern="1200" cap="none" spc="0" normalizeH="0" baseline="0" noProof="0" dirty="0">
                <a:ln/>
                <a:solidFill>
                  <a:srgbClr val="DD5D30"/>
                </a:solidFill>
                <a:effectLst/>
                <a:uLnTx/>
                <a:uFillTx/>
                <a:latin typeface="思源黑体 Normal"/>
                <a:ea typeface="思源黑体 Normal"/>
                <a:cs typeface="+mn-cs"/>
              </a:rPr>
              <a:t> Page ScreenShots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思源黑体 Normal"/>
              <a:cs typeface="+mn-cs"/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1669263-43E8-D622-EB08-1DD5F10BE62F}"/>
              </a:ext>
            </a:extLst>
          </p:cNvPr>
          <p:cNvSpPr/>
          <p:nvPr/>
        </p:nvSpPr>
        <p:spPr>
          <a:xfrm>
            <a:off x="10363200" y="369856"/>
            <a:ext cx="1140903" cy="1140903"/>
          </a:xfrm>
          <a:custGeom>
            <a:avLst/>
            <a:gdLst/>
            <a:ahLst/>
            <a:cxnLst/>
            <a:rect l="l" t="t" r="r" b="b"/>
            <a:pathLst>
              <a:path w="1384798" h="1384798">
                <a:moveTo>
                  <a:pt x="1384799" y="692399"/>
                </a:moveTo>
                <a:cubicBezTo>
                  <a:pt x="1384799" y="1074801"/>
                  <a:pt x="1074801" y="1384799"/>
                  <a:pt x="692399" y="1384799"/>
                </a:cubicBezTo>
                <a:cubicBezTo>
                  <a:pt x="309998" y="1384799"/>
                  <a:pt x="0" y="1074801"/>
                  <a:pt x="0" y="692399"/>
                </a:cubicBezTo>
                <a:cubicBezTo>
                  <a:pt x="0" y="309998"/>
                  <a:pt x="309998" y="0"/>
                  <a:pt x="692399" y="0"/>
                </a:cubicBezTo>
                <a:cubicBezTo>
                  <a:pt x="1074801" y="0"/>
                  <a:pt x="1384799" y="309998"/>
                  <a:pt x="1384799" y="6923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  <a:lumMod val="0"/>
                  <a:lumOff val="100000"/>
                </a:schemeClr>
              </a:gs>
              <a:gs pos="46000">
                <a:schemeClr val="accent3">
                  <a:alpha val="35000"/>
                  <a:lumMod val="20000"/>
                  <a:lumOff val="80000"/>
                </a:schemeClr>
              </a:gs>
              <a:gs pos="74000">
                <a:schemeClr val="accent3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6A53C2-44DF-0101-4181-F117F6DAF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4888" y="972261"/>
            <a:ext cx="9815512" cy="5676440"/>
          </a:xfrm>
          <a:prstGeom prst="rect">
            <a:avLst/>
          </a:prstGeom>
        </p:spPr>
      </p:pic>
      <p:sp>
        <p:nvSpPr>
          <p:cNvPr id="11" name="Freeform 2">
            <a:extLst>
              <a:ext uri="{FF2B5EF4-FFF2-40B4-BE49-F238E27FC236}">
                <a16:creationId xmlns:a16="http://schemas.microsoft.com/office/drawing/2014/main" id="{72F446A3-EA40-B2A6-B987-D370205D82DA}"/>
              </a:ext>
            </a:extLst>
          </p:cNvPr>
          <p:cNvSpPr/>
          <p:nvPr/>
        </p:nvSpPr>
        <p:spPr>
          <a:xfrm rot="3181747">
            <a:off x="10363199" y="4019195"/>
            <a:ext cx="1140903" cy="1140903"/>
          </a:xfrm>
          <a:custGeom>
            <a:avLst/>
            <a:gdLst/>
            <a:ahLst/>
            <a:cxnLst/>
            <a:rect l="l" t="t" r="r" b="b"/>
            <a:pathLst>
              <a:path w="1384798" h="1384798">
                <a:moveTo>
                  <a:pt x="1384799" y="692399"/>
                </a:moveTo>
                <a:cubicBezTo>
                  <a:pt x="1384799" y="1074801"/>
                  <a:pt x="1074801" y="1384799"/>
                  <a:pt x="692399" y="1384799"/>
                </a:cubicBezTo>
                <a:cubicBezTo>
                  <a:pt x="309998" y="1384799"/>
                  <a:pt x="0" y="1074801"/>
                  <a:pt x="0" y="692399"/>
                </a:cubicBezTo>
                <a:cubicBezTo>
                  <a:pt x="0" y="309998"/>
                  <a:pt x="309998" y="0"/>
                  <a:pt x="692399" y="0"/>
                </a:cubicBezTo>
                <a:cubicBezTo>
                  <a:pt x="1074801" y="0"/>
                  <a:pt x="1384799" y="309998"/>
                  <a:pt x="1384799" y="6923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  <a:lumMod val="0"/>
                  <a:lumOff val="100000"/>
                </a:schemeClr>
              </a:gs>
              <a:gs pos="46000">
                <a:schemeClr val="accent3">
                  <a:alpha val="35000"/>
                  <a:lumMod val="20000"/>
                  <a:lumOff val="80000"/>
                </a:schemeClr>
              </a:gs>
              <a:gs pos="74000">
                <a:schemeClr val="accent3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 dirty="0"/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A3519303-256D-9A23-01EA-6A83AA6BF0FE}"/>
              </a:ext>
            </a:extLst>
          </p:cNvPr>
          <p:cNvSpPr/>
          <p:nvPr/>
        </p:nvSpPr>
        <p:spPr>
          <a:xfrm rot="10800000">
            <a:off x="420149" y="5652425"/>
            <a:ext cx="1140903" cy="1140903"/>
          </a:xfrm>
          <a:custGeom>
            <a:avLst/>
            <a:gdLst/>
            <a:ahLst/>
            <a:cxnLst/>
            <a:rect l="l" t="t" r="r" b="b"/>
            <a:pathLst>
              <a:path w="1384798" h="1384798">
                <a:moveTo>
                  <a:pt x="1384799" y="692399"/>
                </a:moveTo>
                <a:cubicBezTo>
                  <a:pt x="1384799" y="1074801"/>
                  <a:pt x="1074801" y="1384799"/>
                  <a:pt x="692399" y="1384799"/>
                </a:cubicBezTo>
                <a:cubicBezTo>
                  <a:pt x="309998" y="1384799"/>
                  <a:pt x="0" y="1074801"/>
                  <a:pt x="0" y="692399"/>
                </a:cubicBezTo>
                <a:cubicBezTo>
                  <a:pt x="0" y="309998"/>
                  <a:pt x="309998" y="0"/>
                  <a:pt x="692399" y="0"/>
                </a:cubicBezTo>
                <a:cubicBezTo>
                  <a:pt x="1074801" y="0"/>
                  <a:pt x="1384799" y="309998"/>
                  <a:pt x="1384799" y="6923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  <a:lumMod val="0"/>
                  <a:lumOff val="100000"/>
                </a:schemeClr>
              </a:gs>
              <a:gs pos="46000">
                <a:schemeClr val="accent3">
                  <a:alpha val="35000"/>
                  <a:lumMod val="20000"/>
                  <a:lumOff val="80000"/>
                </a:schemeClr>
              </a:gs>
              <a:gs pos="74000">
                <a:schemeClr val="accent3">
                  <a:lumMod val="10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9669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4963" y="2132965"/>
            <a:ext cx="390271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DD5D30"/>
                </a:solidFill>
                <a:effectLst/>
                <a:latin typeface="思源黑体 Medium"/>
                <a:ea typeface="思源黑体 Medium"/>
              </a:rPr>
              <a:t>PART   04     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353945" y="3009900"/>
            <a:ext cx="7484745" cy="22313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DD5D30"/>
                </a:solidFill>
                <a:latin typeface="思源黑体 Medium"/>
                <a:ea typeface="思源黑体 Medium"/>
              </a:rPr>
              <a:t>Advanced Analytics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629900" y="0"/>
            <a:ext cx="1625600" cy="6858000"/>
          </a:xfrm>
          <a:prstGeom prst="rect">
            <a:avLst/>
          </a:prstGeom>
          <a:solidFill>
            <a:srgbClr val="DD5D3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477000" y="2165985"/>
            <a:ext cx="5346065" cy="3856990"/>
          </a:xfrm>
          <a:prstGeom prst="roundRect">
            <a:avLst>
              <a:gd name="adj" fmla="val 3764"/>
            </a:avLst>
          </a:prstGeom>
          <a:solidFill>
            <a:srgbClr val="FAE7E0">
              <a:alpha val="25000"/>
            </a:srgbClr>
          </a:solidFill>
          <a:ln>
            <a:noFill/>
          </a:ln>
          <a:effectLst>
            <a:outerShdw blurRad="254000" dist="25400" dir="2700000" algn="tl" rotWithShape="0">
              <a:schemeClr val="tx1">
                <a:alpha val="20000"/>
                <a:lumMod val="50000"/>
                <a:lumOff val="5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277610" y="1886585"/>
            <a:ext cx="5346065" cy="3856990"/>
          </a:xfrm>
          <a:prstGeom prst="roundRect">
            <a:avLst>
              <a:gd name="adj" fmla="val 3764"/>
            </a:avLst>
          </a:prstGeom>
          <a:solidFill>
            <a:srgbClr val="FAE7E0">
              <a:alpha val="55000"/>
            </a:srgbClr>
          </a:solidFill>
          <a:ln>
            <a:noFill/>
          </a:ln>
          <a:effectLst>
            <a:outerShdw blurRad="254000" dist="25400" dir="2700000" algn="tl" rotWithShape="0">
              <a:schemeClr val="tx1">
                <a:alpha val="20000"/>
                <a:lumMod val="50000"/>
                <a:lumOff val="5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068695" y="1330960"/>
            <a:ext cx="5554980" cy="4133215"/>
          </a:xfrm>
          <a:prstGeom prst="roundRect">
            <a:avLst>
              <a:gd name="adj" fmla="val 3764"/>
            </a:avLst>
          </a:prstGeom>
          <a:solidFill>
            <a:srgbClr val="FAE7E0"/>
          </a:solidFill>
          <a:ln>
            <a:noFill/>
          </a:ln>
          <a:effectLst>
            <a:outerShdw blurRad="254000" dist="25400" dir="2700000" algn="tl" rotWithShape="0">
              <a:schemeClr val="tx1">
                <a:alpha val="20000"/>
                <a:lumMod val="50000"/>
                <a:lumOff val="5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685165" y="1878330"/>
            <a:ext cx="5039360" cy="3413760"/>
            <a:chOff x="1805" y="3251"/>
            <a:chExt cx="7936" cy="5376"/>
          </a:xfrm>
        </p:grpSpPr>
        <p:sp>
          <p:nvSpPr>
            <p:cNvPr id="8" name="TextBox 8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A Tree Map visualizes Total Listings, explained by Developer and Property Type. Tooltips provide detailed data on Price, SquareFeet, and Bedrooms, offering a comprehensive view of property distribution.</a:t>
              </a:r>
              <a:endParaRPr lang="en-US" sz="110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D5D30"/>
                  </a:solidFill>
                  <a:latin typeface="思源黑体 Normal"/>
                  <a:ea typeface="思源黑体 Normal"/>
                </a:rPr>
                <a:t>Tree Map Analysis</a:t>
              </a:r>
              <a:endParaRPr lang="en-US" sz="110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Advanced Visuals</a:t>
            </a:r>
            <a:endParaRPr lang="en-US" sz="1100"/>
          </a:p>
        </p:txBody>
      </p:sp>
      <p:pic>
        <p:nvPicPr>
          <p:cNvPr id="14" name="Picture 13" descr="A screenshot of a computer">
            <a:extLst>
              <a:ext uri="{FF2B5EF4-FFF2-40B4-BE49-F238E27FC236}">
                <a16:creationId xmlns:a16="http://schemas.microsoft.com/office/drawing/2014/main" id="{98B85A94-F8DD-22CD-308E-4629E78F4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565" y="1554664"/>
            <a:ext cx="5536485" cy="36343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4963" y="2132965"/>
            <a:ext cx="390271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DD5D30"/>
                </a:solidFill>
                <a:effectLst/>
                <a:latin typeface="思源黑体 Medium"/>
                <a:ea typeface="思源黑体 Medium"/>
              </a:rPr>
              <a:t>PART   05     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353945" y="3009900"/>
            <a:ext cx="7484745" cy="22313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DD5D30"/>
                </a:solidFill>
                <a:latin typeface="思源黑体 Medium"/>
                <a:ea typeface="思源黑体 Medium"/>
              </a:rPr>
              <a:t>Strategic Insights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1.jpeg"/>
          <p:cNvPicPr>
            <a:picLocks noChangeAspect="1"/>
          </p:cNvPicPr>
          <p:nvPr/>
        </p:nvPicPr>
        <p:blipFill>
          <a:blip r:embed="rId3"/>
          <a:srcRect l="16703" r="16703"/>
          <a:stretch>
            <a:fillRect/>
          </a:stretch>
        </p:blipFill>
        <p:spPr>
          <a:xfrm>
            <a:off x="6325870" y="0"/>
            <a:ext cx="5866130" cy="5869940"/>
          </a:xfrm>
          <a:custGeom>
            <a:avLst/>
            <a:gdLst/>
            <a:ahLst/>
            <a:cxnLst/>
            <a:rect l="0" t="0" r="0" b="0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847725" y="2523490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Analysis reveals that high-end properties generate higher revenue, and price increases with square footage. Premium neighborhoods show higher demand, while Apartments dominate total listings.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47725" y="1983740"/>
            <a:ext cx="50400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Market Trends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Key Insights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2.jpeg"/>
          <p:cNvPicPr>
            <a:picLocks noChangeAspect="1"/>
          </p:cNvPicPr>
          <p:nvPr/>
        </p:nvPicPr>
        <p:blipFill>
          <a:blip r:embed="rId3"/>
          <a:srcRect l="30827" r="30827"/>
          <a:stretch>
            <a:fillRect/>
          </a:stretch>
        </p:blipFill>
        <p:spPr>
          <a:xfrm>
            <a:off x="1432511" y="1553595"/>
            <a:ext cx="3084186" cy="4519043"/>
          </a:xfrm>
          <a:custGeom>
            <a:avLst/>
            <a:gdLst/>
            <a:ahLst/>
            <a:cxnLst/>
            <a:rect l="0" t="0" r="0" b="0"/>
            <a:pathLst>
              <a:path w="5467" h="7035">
                <a:moveTo>
                  <a:pt x="2734" y="0"/>
                </a:moveTo>
                <a:cubicBezTo>
                  <a:pt x="4243" y="0"/>
                  <a:pt x="5467" y="1224"/>
                  <a:pt x="5467" y="2734"/>
                </a:cubicBezTo>
                <a:lnTo>
                  <a:pt x="5467" y="7035"/>
                </a:lnTo>
                <a:lnTo>
                  <a:pt x="0" y="7035"/>
                </a:lnTo>
                <a:lnTo>
                  <a:pt x="0" y="2734"/>
                </a:lnTo>
                <a:cubicBezTo>
                  <a:pt x="0" y="1224"/>
                  <a:pt x="1224" y="0"/>
                  <a:pt x="2734" y="0"/>
                </a:cubicBezTo>
                <a:close/>
              </a:path>
            </a:pathLst>
          </a:custGeom>
        </p:spPr>
      </p:pic>
      <p:sp>
        <p:nvSpPr>
          <p:cNvPr id="3" name="AutoShape 3"/>
          <p:cNvSpPr/>
          <p:nvPr/>
        </p:nvSpPr>
        <p:spPr>
          <a:xfrm>
            <a:off x="1170072" y="3569816"/>
            <a:ext cx="520155" cy="2583135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62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553710" y="2604135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Investors should focus on high-end properties for better returns. Agents can target high-demand neighborhoods, and developers should build more mid-range housing. Pricing strategies must consider price per sqft trends.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5553710" y="2064385"/>
            <a:ext cx="50400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D5D30"/>
                </a:solidFill>
                <a:latin typeface="思源黑体 Normal"/>
                <a:ea typeface="思源黑体 Normal"/>
              </a:rPr>
              <a:t>Actionable Advice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Business Recommendations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4963" y="2132965"/>
            <a:ext cx="390271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DD5D30"/>
                </a:solidFill>
                <a:effectLst/>
                <a:latin typeface="思源黑体 Medium"/>
                <a:ea typeface="思源黑体 Medium"/>
              </a:rPr>
              <a:t>PART   06     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353945" y="3009900"/>
            <a:ext cx="7484745" cy="22313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DD5D30"/>
                </a:solidFill>
                <a:latin typeface="思源黑体 Medium"/>
                <a:ea typeface="思源黑体 Medium"/>
              </a:rPr>
              <a:t>Conclusion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392245" y="3858579"/>
            <a:ext cx="2497775" cy="2497775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787829" y="1054108"/>
            <a:ext cx="4794241" cy="4794241"/>
          </a:xfrm>
          <a:prstGeom prst="ellipse">
            <a:avLst/>
          </a:prstGeom>
          <a:solidFill>
            <a:srgbClr val="DD5D3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4" name="image66.jpeg"/>
          <p:cNvPicPr>
            <a:picLocks noChangeAspect="1"/>
          </p:cNvPicPr>
          <p:nvPr/>
        </p:nvPicPr>
        <p:blipFill rotWithShape="1">
          <a:blip r:embed="rId3"/>
          <a:srcRect l="21377" r="11859"/>
          <a:stretch>
            <a:fillRect/>
          </a:stretch>
        </p:blipFill>
        <p:spPr>
          <a:xfrm>
            <a:off x="7000537" y="1112840"/>
            <a:ext cx="4676776" cy="4676776"/>
          </a:xfrm>
          <a:custGeom>
            <a:avLst/>
            <a:gdLst/>
            <a:ahLst/>
            <a:cxnLst/>
            <a:rect l="0" t="0" r="0" b="0"/>
            <a:pathLst>
              <a:path w="4676776" h="4676776">
                <a:moveTo>
                  <a:pt x="2338388" y="0"/>
                </a:moveTo>
                <a:cubicBezTo>
                  <a:pt x="3629844" y="0"/>
                  <a:pt x="4676776" y="1046932"/>
                  <a:pt x="4676776" y="2338388"/>
                </a:cubicBezTo>
                <a:cubicBezTo>
                  <a:pt x="4676776" y="3629844"/>
                  <a:pt x="3629844" y="4676776"/>
                  <a:pt x="2338388" y="4676776"/>
                </a:cubicBezTo>
                <a:cubicBezTo>
                  <a:pt x="1046932" y="4676776"/>
                  <a:pt x="0" y="3629844"/>
                  <a:pt x="0" y="2338388"/>
                </a:cubicBezTo>
                <a:cubicBezTo>
                  <a:pt x="0" y="1046932"/>
                  <a:pt x="1046932" y="0"/>
                  <a:pt x="2338388" y="0"/>
                </a:cubicBezTo>
                <a:close/>
              </a:path>
            </a:pathLst>
          </a:custGeom>
          <a:ln w="9525" cap="flat" cmpd="sng">
            <a:solidFill>
              <a:schemeClr val="accent1">
                <a:alpha val="50000"/>
              </a:schemeClr>
            </a:solidFill>
            <a:prstDash val="solid"/>
          </a:ln>
        </p:spPr>
      </p:pic>
      <p:grpSp>
        <p:nvGrpSpPr>
          <p:cNvPr id="5" name="Group 5"/>
          <p:cNvGrpSpPr/>
          <p:nvPr/>
        </p:nvGrpSpPr>
        <p:grpSpPr>
          <a:xfrm>
            <a:off x="825500" y="1906273"/>
            <a:ext cx="5425440" cy="3413760"/>
            <a:chOff x="1475" y="3596"/>
            <a:chExt cx="8544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475" y="4446"/>
              <a:ext cx="8544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interactive dashboard successfully derives insights from real estate data. It supports better decision-making for stakeholders, providing a robust tool for navigating the Dubai real estate market.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5" y="3596"/>
              <a:ext cx="854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D5D30"/>
                  </a:solidFill>
                  <a:latin typeface="思源黑体 Normal"/>
                  <a:ea typeface="思源黑体 Normal"/>
                </a:rPr>
                <a:t>Summary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D5D30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D5D30"/>
                </a:solidFill>
                <a:latin typeface="思源黑体 Normal"/>
                <a:ea typeface="思源黑体 Normal"/>
              </a:rPr>
              <a:t>Final Thoughts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9400" y="2438400"/>
            <a:ext cx="5600065" cy="17424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6400" b="1" i="0" u="none" baseline="0" dirty="0">
                <a:solidFill>
                  <a:srgbClr val="DD5D30">
                    <a:alpha val="100000"/>
                  </a:srgbClr>
                </a:solidFill>
                <a:latin typeface="思源黑体 Medium"/>
                <a:ea typeface="思源黑体 Medium"/>
              </a:rPr>
              <a:t>T</a:t>
            </a:r>
            <a:r>
              <a:rPr lang="en-US" sz="6400" b="1" dirty="0">
                <a:solidFill>
                  <a:srgbClr val="DD5D30">
                    <a:alpha val="100000"/>
                  </a:srgbClr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hank You</a:t>
            </a:r>
            <a:r>
              <a:rPr lang="en-US" sz="6400" b="1" i="0" u="none" baseline="0" dirty="0">
                <a:solidFill>
                  <a:srgbClr val="DD5D30">
                    <a:alpha val="100000"/>
                  </a:srgbClr>
                </a:solidFill>
                <a:latin typeface="思源黑体 Medium"/>
                <a:ea typeface="思源黑体 Medium"/>
              </a:rPr>
              <a:t> </a:t>
            </a:r>
            <a:endParaRPr lang="en-US" sz="1100" dirty="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DD5D30"/>
      </a:dk2>
      <a:lt2>
        <a:srgbClr val="FFFFFF"/>
      </a:lt2>
      <a:accent1>
        <a:srgbClr val="DD5D30"/>
      </a:accent1>
      <a:accent2>
        <a:srgbClr val="DD5D30"/>
      </a:accent2>
      <a:accent3>
        <a:srgbClr val="DD5D30"/>
      </a:accent3>
      <a:accent4>
        <a:srgbClr val="DD5D30"/>
      </a:accent4>
      <a:accent5>
        <a:srgbClr val="DD5D30"/>
      </a:accent5>
      <a:accent6>
        <a:srgbClr val="DD5D30"/>
      </a:accent6>
      <a:hlink>
        <a:srgbClr val="262626"/>
      </a:hlink>
      <a:folHlink>
        <a:srgbClr val="262626"/>
      </a:folHlink>
    </a:clrScheme>
    <a:fontScheme name="Office">
      <a:maj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538</Words>
  <Application>Microsoft Office PowerPoint</Application>
  <PresentationFormat>Widescreen</PresentationFormat>
  <Paragraphs>73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Times New Roman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Piyush Dash</cp:lastModifiedBy>
  <cp:revision>5</cp:revision>
  <dcterms:created xsi:type="dcterms:W3CDTF">2026-04-10T03:27:00Z</dcterms:created>
  <dcterms:modified xsi:type="dcterms:W3CDTF">2026-04-10T04:03:21Z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{"ContentPropagator":"文多多","Label":"1","ReservedCode1":"1775791620713","ProduceID":"wenduoduo-pptx-1775791620713","ReservedCode2":"1775791620713","PropagateID":"wenduoduo-pptx1775791620713","ContentProducer":"文多多"}</vt:lpwstr>
  </property>
</Properties>
</file>